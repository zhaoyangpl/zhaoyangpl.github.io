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0" Type="http://schemas.openxmlformats.org/officeDocument/2006/relationships/viewProps" Target="viewProps.xml"/><Relationship Id="rId6" Type="http://schemas.openxmlformats.org/officeDocument/2006/relationships/slide" Target="slides/slide5.xml"/><Relationship Id="rId59" Type="http://schemas.openxmlformats.org/officeDocument/2006/relationships/tableStyles" Target="tableStyles.xml"/><Relationship Id="rId58" Type="http://schemas.openxmlformats.org/officeDocument/2006/relationships/presProps" Target="presProps.xml"/><Relationship Id="rId57" Type="http://schemas.openxmlformats.org/officeDocument/2006/relationships/slide" Target="slides/slide56.xml"/><Relationship Id="rId56" Type="http://schemas.openxmlformats.org/officeDocument/2006/relationships/slide" Target="slides/slide55.xml"/><Relationship Id="rId55" Type="http://schemas.openxmlformats.org/officeDocument/2006/relationships/slide" Target="slides/slide54.xml"/><Relationship Id="rId54" Type="http://schemas.openxmlformats.org/officeDocument/2006/relationships/slide" Target="slides/slide53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1272"/>
            <a:ext cx="12192000" cy="658672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394336" y="2163951"/>
            <a:ext cx="7398384" cy="1073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3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4400" b="1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分布式文件系统及数据库技术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3079114" algn="l" rtl="0" eaLnBrk="0">
              <a:lnSpc>
                <a:spcPct val="90000"/>
              </a:lnSpc>
              <a:spcBef>
                <a:spcPts val="29"/>
              </a:spcBef>
              <a:tabLst/>
            </a:pPr>
            <a:r>
              <a:rPr sz="32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第九讲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4889121" y="3864753"/>
            <a:ext cx="2374900" cy="824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3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1145" indent="-259079" algn="l" rtl="0" eaLnBrk="0">
              <a:lnSpc>
                <a:spcPct val="96000"/>
              </a:lnSpc>
              <a:tabLst/>
            </a:pPr>
            <a:r>
              <a:rPr sz="18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主讲人：曹仔科 彭希羡</a:t>
            </a:r>
            <a:r>
              <a:rPr sz="1800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浙江大学管理学院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42544" algn="l" rtl="0" eaLnBrk="0">
              <a:lnSpc>
                <a:spcPct val="91000"/>
              </a:lnSpc>
              <a:spcBef>
                <a:spcPts val="195"/>
              </a:spcBef>
              <a:tabLst/>
            </a:pPr>
            <a:r>
              <a:rPr sz="18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数据科学与工程管理系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path 8"/>
          <p:cNvSpPr/>
          <p:nvPr/>
        </p:nvSpPr>
        <p:spPr>
          <a:xfrm>
            <a:off x="2663951" y="3412109"/>
            <a:ext cx="6821423" cy="6350"/>
          </a:xfrm>
          <a:custGeom>
            <a:avLst/>
            <a:gdLst/>
            <a:ahLst/>
            <a:cxnLst/>
            <a:rect l="0" t="0" r="0" b="0"/>
            <a:pathLst>
              <a:path w="10742" h="10">
                <a:moveTo>
                  <a:pt x="0" y="5"/>
                </a:moveTo>
                <a:lnTo>
                  <a:pt x="10742" y="5"/>
                </a:lnTo>
              </a:path>
            </a:pathLst>
          </a:custGeom>
          <a:noFill/>
          <a:ln w="6350" cap="flat">
            <a:solidFill>
              <a:srgbClr val="004EA2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4521170" y="2331053"/>
            <a:ext cx="3168014" cy="2224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32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1、登录用户设置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46455" algn="l" rtl="0" eaLnBrk="0">
              <a:lnSpc>
                <a:spcPct val="91000"/>
              </a:lnSpc>
              <a:spcBef>
                <a:spcPts val="969"/>
              </a:spcBef>
              <a:tabLst/>
            </a:pPr>
            <a:r>
              <a:rPr sz="32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2、索引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666115" algn="l" rtl="0" eaLnBrk="0">
              <a:lnSpc>
                <a:spcPct val="91000"/>
              </a:lnSpc>
              <a:tabLst/>
            </a:pPr>
            <a:r>
              <a:rPr sz="3200" b="1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3、触发器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1084" y="1853184"/>
            <a:ext cx="11812510" cy="447446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419588" y="440027"/>
            <a:ext cx="7145655" cy="74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需求分析阶段              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4094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927607" y="440027"/>
            <a:ext cx="10637519" cy="3879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653664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登录用户与角色设定         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505"/>
              </a:spcBef>
              <a:tabLst/>
            </a:pPr>
            <a:r>
              <a:rPr sz="2400" i="1" kern="0" spc="-1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--pengxx1</a:t>
            </a:r>
            <a:r>
              <a:rPr sz="2500" i="1" kern="0" spc="-1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创建登录</a:t>
            </a:r>
            <a:r>
              <a:rPr sz="2500" i="1" kern="0" spc="-2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名和用户</a:t>
            </a:r>
            <a:endParaRPr sz="2500" dirty="0">
              <a:latin typeface="Microsoft YaHei"/>
              <a:ea typeface="Microsoft YaHei"/>
              <a:cs typeface="Microsoft YaHei"/>
            </a:endParaRPr>
          </a:p>
          <a:p>
            <a:pPr marL="930275" indent="-902969" algn="l" rtl="0" eaLnBrk="0">
              <a:lnSpc>
                <a:spcPct val="115000"/>
              </a:lnSpc>
              <a:spcBef>
                <a:spcPts val="529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2400" kern="0" spc="20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EXISTS</a:t>
            </a:r>
            <a:r>
              <a:rPr sz="2400" kern="0" spc="15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SELE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CT</a:t>
            </a:r>
            <a:r>
              <a:rPr sz="2400" kern="0" spc="16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sys.server_principals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</a:t>
            </a:r>
            <a:r>
              <a:rPr sz="2400" kern="0" spc="17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=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'pengxx1’</a:t>
            </a:r>
            <a:r>
              <a:rPr sz="2400" kern="0" spc="-40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CREATE</a:t>
            </a:r>
            <a:r>
              <a:rPr sz="2400" kern="0" spc="19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LOGIN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pengxx1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2400" kern="0" spc="21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PASSWORD =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</a:t>
            </a:r>
            <a:r>
              <a:rPr sz="2400" kern="0" spc="-4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pengxx1’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22225" indent="4444" algn="l" rtl="0" eaLnBrk="0">
              <a:lnSpc>
                <a:spcPct val="84000"/>
              </a:lnSpc>
              <a:spcBef>
                <a:spcPts val="1342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  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  EXISTS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SEL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ECT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sys.database_principals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=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 </a:t>
            </a:r>
            <a:r>
              <a:rPr sz="2400" kern="0" spc="-2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'pengxx1’</a:t>
            </a:r>
            <a:r>
              <a:rPr sz="2400" kern="0" spc="-39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930275" algn="l" rtl="0" eaLnBrk="0">
              <a:lnSpc>
                <a:spcPct val="73000"/>
              </a:lnSpc>
              <a:spcBef>
                <a:spcPts val="1498"/>
              </a:spcBef>
              <a:tabLst/>
            </a:pPr>
            <a:r>
              <a:rPr sz="2400" kern="0" spc="-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CREATE</a:t>
            </a:r>
            <a:r>
              <a:rPr sz="2400" kern="0" spc="18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USER</a:t>
            </a:r>
            <a:r>
              <a:rPr sz="2400" kern="0" spc="17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pengxx1</a:t>
            </a:r>
            <a:r>
              <a:rPr sz="2400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400" kern="0" spc="19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LOGI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</a:t>
            </a:r>
            <a:r>
              <a:rPr sz="24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pengxx1;</a:t>
            </a:r>
            <a:endParaRPr sz="24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73000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2645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/>
          <p:nvPr/>
        </p:nvSpPr>
        <p:spPr>
          <a:xfrm>
            <a:off x="930349" y="1855273"/>
            <a:ext cx="10344150" cy="403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indent="4444" algn="l" rtl="0" eaLnBrk="0">
              <a:lnSpc>
                <a:spcPct val="84000"/>
              </a:lnSpc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  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  EXISTS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SEL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ECT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sys.database_principals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=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400" kern="0" spc="-3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'TeacherRol</a:t>
            </a:r>
            <a:r>
              <a:rPr sz="2400" kern="0" spc="-4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e’</a:t>
            </a:r>
            <a:r>
              <a:rPr sz="2400" kern="0" spc="-41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927735" algn="l" rtl="0" eaLnBrk="0">
              <a:lnSpc>
                <a:spcPct val="77000"/>
              </a:lnSpc>
              <a:spcBef>
                <a:spcPts val="1371"/>
              </a:spcBef>
              <a:tabLst/>
            </a:pPr>
            <a:r>
              <a:rPr sz="2400" kern="0" spc="-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CREATE</a:t>
            </a:r>
            <a:r>
              <a:rPr sz="2400" kern="0" spc="25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ROLE TeacherRole;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19684" indent="4444" algn="l" rtl="0" eaLnBrk="0">
              <a:lnSpc>
                <a:spcPct val="84000"/>
              </a:lnSpc>
              <a:spcBef>
                <a:spcPts val="1341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  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  EXISTS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SEL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ECT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sys.database_principals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=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400" kern="0" spc="-2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'AdminRole’</a:t>
            </a:r>
            <a:r>
              <a:rPr sz="2400" kern="0" spc="-39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927735" algn="l" rtl="0" eaLnBrk="0">
              <a:lnSpc>
                <a:spcPct val="77000"/>
              </a:lnSpc>
              <a:spcBef>
                <a:spcPts val="1383"/>
              </a:spcBef>
              <a:tabLst/>
            </a:pP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CREATE</a:t>
            </a:r>
            <a:r>
              <a:rPr sz="2400" kern="0" spc="19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ROLE AdminRole;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19684" indent="4444" algn="l" rtl="0" eaLnBrk="0">
              <a:lnSpc>
                <a:spcPct val="84000"/>
              </a:lnSpc>
              <a:spcBef>
                <a:spcPts val="1341"/>
              </a:spcBef>
              <a:tabLst/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  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   EXISTS  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4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SEL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ECT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FROM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sys.database_principals   </a:t>
            </a: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  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name   =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400" kern="0" spc="-2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'StudentRole’</a:t>
            </a:r>
            <a:r>
              <a:rPr sz="2400" kern="0" spc="-390" dirty="0">
                <a:solidFill>
                  <a:srgbClr val="50A14F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2400" dirty="0">
              <a:latin typeface="Calibri"/>
              <a:ea typeface="Calibri"/>
              <a:cs typeface="Calibri"/>
            </a:endParaRPr>
          </a:p>
          <a:p>
            <a:pPr marL="927735" algn="l" rtl="0" eaLnBrk="0">
              <a:lnSpc>
                <a:spcPct val="77000"/>
              </a:lnSpc>
              <a:spcBef>
                <a:spcPts val="1371"/>
              </a:spcBef>
              <a:tabLst/>
            </a:pPr>
            <a:r>
              <a:rPr sz="24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CREATE</a:t>
            </a:r>
            <a:r>
              <a:rPr sz="2400" kern="0" spc="21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ROLE StudentRole;</a:t>
            </a:r>
            <a:endParaRPr sz="24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</a:t>
            </a:r>
            <a:endParaRPr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927607" y="551341"/>
            <a:ext cx="7698105" cy="1162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登录用户与角色设定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spcBef>
                <a:spcPts val="6"/>
              </a:spcBef>
              <a:tabLst/>
            </a:pPr>
            <a:r>
              <a:rPr sz="2400" i="1" kern="0" spc="-4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-- 1. </a:t>
            </a:r>
            <a:r>
              <a:rPr sz="2500" i="1" kern="0" spc="-4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创建数据库角色（如果尚未创建）</a:t>
            </a:r>
            <a:endParaRPr sz="2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/>
          <p:nvPr/>
        </p:nvSpPr>
        <p:spPr>
          <a:xfrm>
            <a:off x="920826" y="551341"/>
            <a:ext cx="7705090" cy="5969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登录用户与角色设定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17145" algn="l" rtl="0" eaLnBrk="0">
              <a:lnSpc>
                <a:spcPct val="91000"/>
              </a:lnSpc>
              <a:spcBef>
                <a:spcPts val="1159"/>
              </a:spcBef>
              <a:tabLst/>
            </a:pPr>
            <a:r>
              <a:rPr sz="1800" i="1" kern="0" spc="4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-- 2. </a:t>
            </a:r>
            <a:r>
              <a:rPr sz="1900" i="1" kern="0" spc="4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设置角色权限</a:t>
            </a:r>
            <a:r>
              <a:rPr sz="1800" i="1" kern="0" spc="4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 </a:t>
            </a:r>
            <a:r>
              <a:rPr sz="1900" i="1" kern="0" spc="4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为学生角色设置只读权限</a:t>
            </a:r>
            <a:endParaRPr sz="19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72000"/>
              </a:lnSpc>
              <a:spcBef>
                <a:spcPts val="849"/>
              </a:spcBef>
              <a:tabLst/>
            </a:pPr>
            <a:r>
              <a:rPr sz="1800" kern="0" spc="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 SELECT ON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Students 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8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StudentRole;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ts val="2591"/>
              </a:lnSpc>
              <a:tabLst/>
            </a:pPr>
            <a:r>
              <a:rPr sz="1800" kern="0" spc="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 SELECT ON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Cours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 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8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StudentRole;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ts val="2603"/>
              </a:lnSpc>
              <a:tabLst/>
            </a:pP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 SELECT ON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Takes 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10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StudentRole;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ct val="76000"/>
              </a:lnSpc>
              <a:spcBef>
                <a:spcPts val="1115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1000"/>
              </a:lnSpc>
              <a:spcBef>
                <a:spcPts val="578"/>
              </a:spcBef>
              <a:tabLst/>
            </a:pPr>
            <a:r>
              <a:rPr sz="1800" i="1" kern="0" spc="4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-- 3. </a:t>
            </a:r>
            <a:r>
              <a:rPr sz="1900" i="1" kern="0" spc="4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为老师角色设置权限</a:t>
            </a:r>
            <a:endParaRPr sz="19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72000"/>
              </a:lnSpc>
              <a:spcBef>
                <a:spcPts val="849"/>
              </a:spcBef>
              <a:tabLst/>
            </a:pPr>
            <a:r>
              <a:rPr sz="1800" kern="0" spc="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 SELECT ON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Students 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TeacherRole;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ts val="2591"/>
              </a:lnSpc>
              <a:tabLst/>
            </a:pPr>
            <a:r>
              <a:rPr sz="1800" kern="0" spc="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 SELECT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ON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Courses 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TeacherRole;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ts val="2603"/>
              </a:lnSpc>
              <a:tabLst/>
            </a:pP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 SELECT ON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Takes </a:t>
            </a:r>
            <a:r>
              <a:rPr sz="1800" kern="0" spc="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Teach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ct val="72000"/>
              </a:lnSpc>
              <a:spcBef>
                <a:spcPts val="1039"/>
              </a:spcBef>
              <a:tabLst/>
            </a:pP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</a:t>
            </a:r>
            <a:r>
              <a:rPr sz="1800" kern="0" spc="19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INSERT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DELETE</a:t>
            </a:r>
            <a:r>
              <a:rPr sz="1800" kern="0" spc="1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Courses </a:t>
            </a:r>
            <a:r>
              <a:rPr sz="1800" kern="0" spc="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Teac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herRole;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ts val="2591"/>
              </a:lnSpc>
              <a:tabLst/>
            </a:pPr>
            <a:r>
              <a:rPr sz="1800" kern="0" spc="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GRANT</a:t>
            </a:r>
            <a:r>
              <a:rPr sz="1800" kern="0" spc="21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INSERT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1800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UPDATE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1800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DELETE</a:t>
            </a:r>
            <a:r>
              <a:rPr sz="1800" kern="0" spc="1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1800" kern="0" spc="11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Takes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1800" kern="0" spc="11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TeacherRole</a:t>
            </a:r>
            <a:r>
              <a:rPr sz="1800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1800" dirty="0">
              <a:latin typeface="Calibri"/>
              <a:ea typeface="Calibri"/>
              <a:cs typeface="Calibri"/>
            </a:endParaRPr>
          </a:p>
          <a:p>
            <a:pPr marL="19050" algn="l" rtl="0" eaLnBrk="0">
              <a:lnSpc>
                <a:spcPct val="76000"/>
              </a:lnSpc>
              <a:spcBef>
                <a:spcPts val="1125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</a:t>
            </a:r>
            <a:endParaRPr sz="1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1000"/>
              </a:lnSpc>
              <a:spcBef>
                <a:spcPts val="544"/>
              </a:spcBef>
              <a:tabLst/>
            </a:pPr>
            <a:r>
              <a:rPr sz="1800" i="1" kern="0" spc="3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-- 4.</a:t>
            </a:r>
            <a:r>
              <a:rPr sz="1800" i="1" kern="0" spc="-30" dirty="0">
                <a:solidFill>
                  <a:srgbClr val="A0A1A7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i="1" kern="0" spc="30" dirty="0">
                <a:solidFill>
                  <a:srgbClr val="A0A1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将用户添加到相应角色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8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ALTER</a:t>
            </a:r>
            <a:r>
              <a:rPr sz="1800" kern="0" spc="14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ROLE TeacherRole </a:t>
            </a:r>
            <a:r>
              <a:rPr sz="18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ADD</a:t>
            </a:r>
            <a:r>
              <a:rPr sz="1800" kern="0" spc="17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2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MEMB</a:t>
            </a:r>
            <a:r>
              <a:rPr sz="1800" kern="0" spc="-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</a:t>
            </a:r>
            <a:r>
              <a:rPr sz="1800" kern="0" spc="130" dirty="0">
                <a:solidFill>
                  <a:srgbClr val="A626A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pengxx1;</a:t>
            </a:r>
            <a:endParaRPr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4"/>
          <p:cNvSpPr/>
          <p:nvPr/>
        </p:nvSpPr>
        <p:spPr>
          <a:xfrm>
            <a:off x="946767" y="440027"/>
            <a:ext cx="10618469" cy="5523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037965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设计阶段</a:t>
            </a: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272415" algn="l" rtl="0" eaLnBrk="0">
              <a:lnSpc>
                <a:spcPts val="4752"/>
              </a:lnSpc>
              <a:spcBef>
                <a:spcPts val="807"/>
              </a:spcBef>
              <a:tabLst/>
            </a:pPr>
            <a:r>
              <a:rPr sz="3300" b="1" kern="0" spc="-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（3）物理设计：</a:t>
            </a:r>
            <a:endParaRPr sz="3300" dirty="0">
              <a:latin typeface="Microsoft YaHei"/>
              <a:ea typeface="Microsoft YaHei"/>
              <a:cs typeface="Microsoft YaHei"/>
            </a:endParaRPr>
          </a:p>
          <a:p>
            <a:pPr marL="233045" indent="-220345" algn="l" rtl="0" eaLnBrk="0">
              <a:lnSpc>
                <a:spcPct val="105000"/>
              </a:lnSpc>
              <a:spcBef>
                <a:spcPts val="387"/>
              </a:spcBef>
              <a:tabLst>
                <a:tab pos="264795" algn="l"/>
              </a:tabLst>
            </a:pP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b="1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目标：</a:t>
            </a:r>
            <a:r>
              <a:rPr sz="2700" b="1" kern="0" spc="5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为特定的 </a:t>
            </a:r>
            <a:r>
              <a:rPr sz="2700" b="1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数据库管理系统 </a:t>
            </a:r>
            <a:r>
              <a:rPr sz="2700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（如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MySQL</a:t>
            </a:r>
            <a:r>
              <a:rPr sz="2700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 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Oracle</a:t>
            </a:r>
            <a:r>
              <a:rPr sz="2700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 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   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700" kern="0" spc="-6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设计底层的存储结构和访问机制</a:t>
            </a:r>
            <a:r>
              <a:rPr sz="2700" kern="0" spc="-3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以优化</a:t>
            </a:r>
            <a:r>
              <a:rPr sz="2700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81"/>
              </a:lnSpc>
              <a:spcBef>
                <a:spcPts val="813"/>
              </a:spcBef>
              <a:tabLst>
                <a:tab pos="264795" algn="l"/>
              </a:tabLst>
            </a:pP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决定文件的存储位置、</a:t>
            </a:r>
            <a:r>
              <a:rPr sz="2700" kern="0" spc="-6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分区策略。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7170" indent="-204470" algn="l" rtl="0" eaLnBrk="0">
              <a:lnSpc>
                <a:spcPct val="101000"/>
              </a:lnSpc>
              <a:spcBef>
                <a:spcPts val="817"/>
              </a:spcBef>
              <a:tabLst>
                <a:tab pos="264795" algn="l"/>
              </a:tabLst>
            </a:pP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</a:t>
            </a:r>
            <a:r>
              <a:rPr sz="27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</a:t>
            </a:r>
            <a:r>
              <a:rPr sz="2700" b="1" kern="0" spc="-6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（哪些列需要创建索引</a:t>
            </a:r>
            <a:r>
              <a:rPr sz="2700" kern="0" spc="-3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是什么类型的索引）</a:t>
            </a:r>
            <a:r>
              <a:rPr sz="2700" kern="0" spc="-5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以加速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询。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78"/>
              </a:lnSpc>
              <a:spcBef>
                <a:spcPts val="1"/>
              </a:spcBef>
              <a:tabLst>
                <a:tab pos="264795" algn="l"/>
              </a:tabLst>
            </a:pP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确定磁盘存储结构和访问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9467" y="5521202"/>
            <a:ext cx="252115" cy="394152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9467" y="4215134"/>
            <a:ext cx="252115" cy="394152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9467" y="3283970"/>
            <a:ext cx="252115" cy="39415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9467" y="1979428"/>
            <a:ext cx="252115" cy="39415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063479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6"/>
          <p:cNvSpPr/>
          <p:nvPr/>
        </p:nvSpPr>
        <p:spPr>
          <a:xfrm>
            <a:off x="935759" y="2183695"/>
            <a:ext cx="10184130" cy="3482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6695" indent="-214629" algn="l" rtl="0" eaLnBrk="0">
              <a:lnSpc>
                <a:spcPct val="98000"/>
              </a:lnSpc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数据库中一个表的数据量越来越大后，查询性能会急剧下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降。创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建索引是保持良好的性能的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关键手段。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19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索引能够轻易地将查询性能提高几个数量级。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6695" indent="-214629" algn="l" rtl="0" eaLnBrk="0">
              <a:lnSpc>
                <a:spcPct val="99000"/>
              </a:lnSpc>
              <a:spcBef>
                <a:spcPts val="7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索引是一种特殊的文件，存储着对目标数据表中所有记录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的引用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指针。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4183189" y="908535"/>
            <a:ext cx="3755390" cy="763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5813"/>
              </a:lnSpc>
              <a:tabLst/>
            </a:pPr>
            <a:r>
              <a:rPr sz="4300" b="1" kern="0" spc="-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索引（Index）</a:t>
            </a:r>
            <a:endParaRPr sz="4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2"/>
          <p:cNvSpPr/>
          <p:nvPr/>
        </p:nvSpPr>
        <p:spPr>
          <a:xfrm>
            <a:off x="935759" y="1626761"/>
            <a:ext cx="10184130" cy="4293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1775" indent="-219075" algn="l" rtl="0" eaLnBrk="0">
              <a:lnSpc>
                <a:spcPct val="109000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数据库中的索引类似于一本书的目录，可以帮助你在一本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厚厚的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书中通过目录快速找到你想要的信息，而不需要浏览完全书。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3520" indent="-211454" algn="l" rtl="0" eaLnBrk="0">
              <a:lnSpc>
                <a:spcPct val="94000"/>
              </a:lnSpc>
              <a:spcBef>
                <a:spcPts val="814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例如需要遍历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万条数据，在没有索引的情况下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，数据库会遍历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全部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万条数据后选择符合条件的，</a:t>
            </a:r>
            <a:r>
              <a:rPr sz="2700" kern="0" spc="-6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而有了相应的索引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后，数据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库会在索引中更快速地查找符合条件的选项。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62890" indent="-25019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数据库索引就是为了提高表的搜索效率而对某些字段的值</a:t>
            </a:r>
            <a:r>
              <a:rPr sz="2700" b="1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建立的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-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5530373" y="717776"/>
            <a:ext cx="1137285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3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8"/>
          <p:cNvSpPr/>
          <p:nvPr/>
        </p:nvSpPr>
        <p:spPr>
          <a:xfrm>
            <a:off x="938506" y="440027"/>
            <a:ext cx="10626725" cy="5412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766184" algn="l" rtl="0" eaLnBrk="0">
              <a:lnSpc>
                <a:spcPct val="91000"/>
              </a:lnSpc>
              <a:spcBef>
                <a:spcPts val="3"/>
              </a:spcBef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索引的作用</a:t>
            </a: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225425" indent="-212725" algn="l" rtl="0" eaLnBrk="0">
              <a:lnSpc>
                <a:spcPct val="101000"/>
              </a:lnSpc>
              <a:spcBef>
                <a:spcPts val="1235"/>
              </a:spcBef>
              <a:tabLst/>
            </a:pPr>
            <a:r>
              <a:rPr sz="32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3200" kern="0" spc="-1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建立索引的主要目的是为了极大提高数据库的查询性能。</a:t>
            </a:r>
            <a:r>
              <a:rPr sz="32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3200" kern="0" spc="-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其核心作用包括：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680719" indent="-213995" algn="l" rtl="0" eaLnBrk="0">
              <a:lnSpc>
                <a:spcPct val="107000"/>
              </a:lnSpc>
              <a:spcBef>
                <a:spcPts val="1220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大幅加速查询速度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：通过索引快速定位数据，极大减少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了需要</a:t>
            </a:r>
            <a:r>
              <a:rPr sz="27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扫描的数据量，尤其是在处理大数据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表或多表关联时，性能提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7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升尤为显著。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4000"/>
              </a:lnSpc>
              <a:spcBef>
                <a:spcPts val="1141"/>
              </a:spcBef>
              <a:tabLst/>
            </a:pPr>
            <a:r>
              <a:rPr sz="2700" kern="0" spc="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降低系统开销</a:t>
            </a:r>
            <a:r>
              <a:rPr sz="2700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：减少了磁盘</a:t>
            </a:r>
            <a:r>
              <a:rPr sz="2700" kern="0" spc="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I/O</a:t>
            </a:r>
            <a:r>
              <a:rPr sz="2700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操作和</a:t>
            </a:r>
            <a:r>
              <a:rPr sz="27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排序过程中的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CPU</a:t>
            </a:r>
            <a:r>
              <a:rPr sz="27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消耗。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4000"/>
              </a:lnSpc>
              <a:spcBef>
                <a:spcPts val="1156"/>
              </a:spcBef>
              <a:tabLst/>
            </a:pPr>
            <a:r>
              <a:rPr sz="2700" kern="0" spc="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确保数据完整性</a:t>
            </a:r>
            <a:r>
              <a:rPr sz="2700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：唯一性索引能保证表中各行数据的唯一性。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681990" indent="-215265" algn="l" rtl="0" eaLnBrk="0">
              <a:lnSpc>
                <a:spcPct val="104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优化连接、分组和排序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：显著加速表与表之间的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连接操作，以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及使用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GROUP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ORDER</a:t>
            </a:r>
            <a:r>
              <a:rPr sz="2700" kern="0" spc="2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子句时的处理速度。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5663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2"/>
          <p:cNvSpPr/>
          <p:nvPr/>
        </p:nvSpPr>
        <p:spPr>
          <a:xfrm>
            <a:off x="935759" y="2410820"/>
            <a:ext cx="10184130" cy="181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kern="0" spc="8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8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索引需要占用额外的磁盘</a:t>
            </a:r>
            <a:r>
              <a:rPr sz="2700" kern="0" spc="7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空间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6695" indent="-213995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2700" kern="0" spc="9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在插入和修改数据时要花费更多的时间（因为索引也要随</a:t>
            </a:r>
            <a:r>
              <a:rPr sz="2700" kern="0" spc="8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之进行</a:t>
            </a:r>
            <a:r>
              <a:rPr sz="27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维护更新）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4133984" y="1402848"/>
            <a:ext cx="3932554" cy="637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2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建立索引的成本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8"/>
          <p:cNvSpPr/>
          <p:nvPr/>
        </p:nvSpPr>
        <p:spPr>
          <a:xfrm>
            <a:off x="935759" y="1941660"/>
            <a:ext cx="10179684" cy="3814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5425" indent="-212725" algn="l" rtl="0" eaLnBrk="0">
              <a:lnSpc>
                <a:spcPct val="104000"/>
              </a:lnSpc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普通索引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：根据特定规则为表中某列或某些列的值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创建索引，对</a:t>
            </a:r>
            <a:r>
              <a:rPr sz="27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列的值无唯一性要求，仅用于加速查询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1000"/>
              </a:lnSpc>
              <a:spcBef>
                <a:spcPts val="1099"/>
              </a:spcBef>
              <a:tabLst/>
            </a:pPr>
            <a:r>
              <a:rPr sz="2400" kern="0" spc="-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单列索引 </a:t>
            </a:r>
            <a:r>
              <a:rPr sz="2400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vs </a:t>
            </a:r>
            <a:r>
              <a:rPr sz="2400" b="1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组合索引</a:t>
            </a:r>
            <a:r>
              <a:rPr sz="2400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（多列的值组</a:t>
            </a:r>
            <a:r>
              <a:rPr sz="2400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合在一起生成索引）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11"/>
              </a:spcBef>
              <a:tabLst/>
            </a:pP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唯一性索引：</a:t>
            </a:r>
            <a:r>
              <a:rPr sz="2700" b="1" kern="0" spc="-3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要求被索引的列（或列组合）</a:t>
            </a:r>
            <a:r>
              <a:rPr sz="2700" kern="0" spc="-3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值必须是唯一的。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83894" indent="-217170" algn="l" rtl="0" eaLnBrk="0">
              <a:lnSpc>
                <a:spcPct val="108000"/>
              </a:lnSpc>
              <a:spcBef>
                <a:spcPts val="663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主键索引：</a:t>
            </a:r>
            <a:r>
              <a:rPr sz="2400" b="1" kern="0" spc="-5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唯一索引的特例。它要求列值唯一且非空（NOT</a:t>
            </a:r>
            <a:r>
              <a:rPr sz="2400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NUL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L）。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每个表最多只能有一个主键索引，用于唯一标识每一行数据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。定义主键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695959" algn="l" rtl="0" eaLnBrk="0">
              <a:lnSpc>
                <a:spcPct val="94000"/>
              </a:lnSpc>
              <a:spcBef>
                <a:spcPts val="563"/>
              </a:spcBef>
              <a:tabLst/>
            </a:pPr>
            <a:r>
              <a:rPr sz="2300" kern="0" spc="-1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时自动创建。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2454942" y="694527"/>
            <a:ext cx="7212330" cy="635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索引的类型（按约束性划分）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935759" y="694527"/>
            <a:ext cx="10141584" cy="532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3419" algn="l" rtl="0" eaLnBrk="0">
              <a:lnSpc>
                <a:spcPct val="91000"/>
              </a:lnSpc>
              <a:tabLst/>
            </a:pPr>
            <a:r>
              <a:rPr sz="4400" b="1" kern="0" spc="-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索引的类型（按物理存储结构划分）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1826"/>
              </a:spcBef>
              <a:tabLst/>
            </a:pPr>
            <a:r>
              <a:rPr sz="2700" kern="0" spc="4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4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聚集索引</a:t>
            </a:r>
            <a:r>
              <a:rPr sz="2700" kern="0" spc="4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83894" indent="-217170" algn="l" rtl="0" eaLnBrk="0">
              <a:lnSpc>
                <a:spcPct val="101000"/>
              </a:lnSpc>
              <a:spcBef>
                <a:spcPts val="1069"/>
              </a:spcBef>
              <a:tabLst/>
            </a:pP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定义</a:t>
            </a: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：索引项的顺序决定了表</a:t>
            </a: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中数据行的物理存储顺序。一张表只能有</a:t>
            </a: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2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一个聚集索引，因为数据本身只能按一种方式排序。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695959" indent="-229234" algn="l" rtl="0" eaLnBrk="0">
              <a:lnSpc>
                <a:spcPct val="101000"/>
              </a:lnSpc>
              <a:spcBef>
                <a:spcPts val="1011"/>
              </a:spcBef>
              <a:tabLst/>
            </a:pP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6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类比</a:t>
            </a: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：就像字典本身按拼音顺序排列</a:t>
            </a:r>
            <a:r>
              <a:rPr sz="2400" kern="0" spc="-2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，内容（数据行）的顺序就是索引</a:t>
            </a: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12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的顺序。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1612"/>
              </a:spcBef>
              <a:tabLst/>
            </a:pPr>
            <a:r>
              <a:rPr sz="2700" kern="0" spc="5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b="1" kern="0" spc="5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非聚集索引</a:t>
            </a:r>
            <a:r>
              <a:rPr sz="2700" kern="0" spc="5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81355" indent="-214629" algn="l" rtl="0" eaLnBrk="0">
              <a:lnSpc>
                <a:spcPct val="101000"/>
              </a:lnSpc>
              <a:spcBef>
                <a:spcPts val="1058"/>
              </a:spcBef>
              <a:tabLst/>
            </a:pP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定义</a:t>
            </a: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：索引的顺序</a:t>
            </a: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与数据行的物理存储顺序完全无关。索引结构独立于</a:t>
            </a: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数据，索引数据结构中包含的是</a:t>
            </a:r>
            <a:r>
              <a:rPr sz="2400" kern="0" spc="-2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指向数据行位置的指针（行定位器）。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877569" indent="-410844" algn="l" rtl="0" eaLnBrk="0">
              <a:lnSpc>
                <a:spcPct val="101000"/>
              </a:lnSpc>
              <a:spcBef>
                <a:spcPts val="5"/>
              </a:spcBef>
              <a:tabLst/>
            </a:pP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410" dirty="0">
                <a:solidFill>
                  <a:srgbClr val="004FA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类比</a:t>
            </a:r>
            <a:r>
              <a:rPr sz="2400" kern="0" spc="-1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：就像字典后面的偏旁部首检字表，检字表（索引）的顺序与正文</a:t>
            </a:r>
            <a:r>
              <a:rPr sz="2400" kern="0" spc="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8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（数据）的顺序无关，通过检字表找到字所在的</a:t>
            </a:r>
            <a:r>
              <a:rPr sz="2400" kern="0" spc="-90" dirty="0">
                <a:solidFill>
                  <a:srgbClr val="004F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页码。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934467" y="1431361"/>
            <a:ext cx="10417175" cy="4953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6695" indent="-213995" algn="l" rtl="0" eaLnBrk="0">
              <a:lnSpc>
                <a:spcPct val="96000"/>
              </a:lnSpc>
              <a:tabLst/>
            </a:pP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1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索引的本质是</a:t>
            </a:r>
            <a:r>
              <a:rPr sz="26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以空间换时间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增加索引会提升查询速度，但也会降低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6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数据更新速度并占用</a:t>
            </a:r>
            <a:r>
              <a:rPr sz="26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额外空间。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1289"/>
              </a:spcBef>
              <a:tabLst/>
            </a:pP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1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避免过度索引：并非索引越多越好。每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个多余的索引都是性能负担。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785"/>
              </a:spcBef>
              <a:tabLst/>
            </a:pPr>
            <a:r>
              <a:rPr sz="2600" kern="0" spc="-1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1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应该创建索引的情况：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862330" indent="-395604" algn="l" rtl="0" eaLnBrk="0">
              <a:lnSpc>
                <a:spcPct val="104000"/>
              </a:lnSpc>
              <a:spcBef>
                <a:spcPts val="720"/>
              </a:spcBef>
              <a:tabLst/>
            </a:pP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主键与外键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：主键自动创建唯一索引。外键字段必须建立索引，</a:t>
            </a:r>
            <a:r>
              <a:rPr sz="2100" kern="0" spc="-2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以优化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表连接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1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（JOIN）操作和引用完整性检查。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5000"/>
              </a:lnSpc>
              <a:spcBef>
                <a:spcPts val="563"/>
              </a:spcBef>
              <a:tabLst/>
            </a:pP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5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高频查询条件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：频繁出现在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WHERE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子句中的字段。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861694" indent="-394970" algn="l" rtl="0" eaLnBrk="0">
              <a:lnSpc>
                <a:spcPct val="111000"/>
              </a:lnSpc>
              <a:spcBef>
                <a:spcPts val="366"/>
              </a:spcBef>
              <a:tabLst/>
            </a:pP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5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连接与排序字段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：用于表连接（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JOIN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）、</a:t>
            </a:r>
            <a:r>
              <a:rPr sz="2100" kern="0" spc="-3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排序（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ORDER</a:t>
            </a:r>
            <a:r>
              <a:rPr sz="2100" kern="0" spc="2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BY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）和分组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</a:t>
            </a:r>
            <a:r>
              <a:rPr sz="2100" kern="0" spc="-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（GROUP</a:t>
            </a:r>
            <a:r>
              <a:rPr sz="2100" kern="0" spc="2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-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BY）</a:t>
            </a:r>
            <a:r>
              <a:rPr sz="2100" kern="0" spc="-4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-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的字段。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687069" indent="-220345" algn="l" rtl="0" eaLnBrk="0">
              <a:lnSpc>
                <a:spcPct val="100000"/>
              </a:lnSpc>
              <a:spcBef>
                <a:spcPts val="556"/>
              </a:spcBef>
              <a:tabLst/>
            </a:pP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数据量较大的表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：当表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记录较多时（例如超过数百行</a:t>
            </a:r>
            <a:r>
              <a:rPr sz="2100" kern="0" spc="-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100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-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kern="0" spc="-5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索引能避免全表扫描，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显著提升查询性能。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132865" y="597854"/>
            <a:ext cx="3933825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3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索引的设计原则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/>
          <p:nvPr/>
        </p:nvSpPr>
        <p:spPr>
          <a:xfrm>
            <a:off x="935759" y="440027"/>
            <a:ext cx="10629265" cy="4596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209289" algn="l" rtl="0" eaLnBrk="0">
              <a:lnSpc>
                <a:spcPct val="91000"/>
              </a:lnSpc>
              <a:spcBef>
                <a:spcPts val="6"/>
              </a:spcBef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索引的设计原则</a:t>
            </a: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10"/>
              </a:spcBef>
              <a:tabLst/>
            </a:pPr>
            <a:r>
              <a:rPr sz="2700" kern="0" spc="-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不应或谨慎创建索引的情况：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83259" indent="-216534" algn="l" rtl="0" eaLnBrk="0">
              <a:lnSpc>
                <a:spcPct val="106000"/>
              </a:lnSpc>
              <a:spcBef>
                <a:spcPts val="1370"/>
              </a:spcBef>
              <a:tabLst/>
            </a:pP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低唯一性字段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：重复值过多的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字段（如“性别”、“状态”等枚举值），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索引效率极低，优化器通常会忽略。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703580" indent="-236854" algn="l" rtl="0" eaLnBrk="0">
              <a:lnSpc>
                <a:spcPct val="105000"/>
              </a:lnSpc>
              <a:spcBef>
                <a:spcPts val="1357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0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频繁更新的字段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：索引会增加INSERT、</a:t>
            </a:r>
            <a:r>
              <a:rPr sz="2400" kern="0" spc="-4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E、</a:t>
            </a:r>
            <a:r>
              <a:rPr sz="2400" kern="0" spc="-4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DELETE操作的开销，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400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因为需要同时维护索引结构。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82625" indent="-215900" algn="l" rtl="0" eaLnBrk="0">
              <a:lnSpc>
                <a:spcPct val="106000"/>
              </a:lnSpc>
              <a:spcBef>
                <a:spcPts val="3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很少被查询的字段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：为不参与查询的字段创建索引只会增加额外存储和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2400" kern="0" spc="-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维护成本。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2107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8"/>
          <p:cNvSpPr/>
          <p:nvPr/>
        </p:nvSpPr>
        <p:spPr>
          <a:xfrm>
            <a:off x="934467" y="440027"/>
            <a:ext cx="10630534" cy="5604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34439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聚集索引vs非聚集索引应</a:t>
            </a: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用场景  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7965" indent="-215265" algn="l" rtl="0" eaLnBrk="0">
              <a:lnSpc>
                <a:spcPct val="101000"/>
              </a:lnSpc>
              <a:spcBef>
                <a:spcPts val="781"/>
              </a:spcBef>
              <a:tabLst/>
            </a:pP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4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由于聚集索引决定了数据行的物理存储顺序，表的主</a:t>
            </a:r>
            <a:r>
              <a:rPr sz="26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键一般就是聚集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索引，而且一个表只允许一个聚集索引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681990" indent="-215265" algn="l" rtl="0" eaLnBrk="0">
              <a:lnSpc>
                <a:spcPct val="105000"/>
              </a:lnSpc>
              <a:spcBef>
                <a:spcPts val="1034"/>
              </a:spcBef>
              <a:tabLst/>
            </a:pP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50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用于范围查询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：经常使用</a:t>
            </a:r>
            <a:r>
              <a:rPr sz="2100" kern="0" spc="4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BETWEEN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00" kern="0" spc="-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&gt;、</a:t>
            </a:r>
            <a:r>
              <a:rPr sz="2100" kern="0" spc="-2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&lt;等操作</a:t>
            </a:r>
            <a:r>
              <a:rPr sz="2100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符的列。因为数据按顺序物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理存储，连续的数据在磁盘上也大概率是连续的，</a:t>
            </a:r>
            <a:r>
              <a:rPr sz="2100" kern="0" spc="-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可以快速读取。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685800" indent="-219075" algn="l" rtl="0" eaLnBrk="0">
              <a:lnSpc>
                <a:spcPct val="105000"/>
              </a:lnSpc>
              <a:spcBef>
                <a:spcPts val="1020"/>
              </a:spcBef>
              <a:tabLst/>
            </a:pP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50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用于排序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：查询结果经常需要按某列排序。因为数据已经排好序了，数据库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需额外的排序操作。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785"/>
              </a:spcBef>
              <a:tabLst/>
            </a:pP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2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非聚集索引是独立的结构，存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储的是索引键值和指向数据行的指针。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4000"/>
              </a:lnSpc>
              <a:spcBef>
                <a:spcPts val="1065"/>
              </a:spcBef>
              <a:tabLst/>
            </a:pP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5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用于经常出现在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WHERE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JOIN</a:t>
            </a:r>
            <a:r>
              <a:rPr sz="2100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...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00" kern="0" spc="-4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ORDER</a:t>
            </a:r>
            <a:r>
              <a:rPr sz="2100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BY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00" kern="0" spc="-4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GROUP</a:t>
            </a:r>
            <a:r>
              <a:rPr sz="2100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BY</a:t>
            </a:r>
            <a:r>
              <a:rPr sz="21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子句中的列。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5000"/>
              </a:lnSpc>
              <a:tabLst/>
            </a:pPr>
            <a:r>
              <a:rPr sz="2100" kern="0" spc="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创建组合索引以实现</a:t>
            </a:r>
            <a:r>
              <a:rPr sz="21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覆盖查询</a:t>
            </a:r>
            <a:r>
              <a:rPr sz="2100" kern="0" spc="-4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（查询</a:t>
            </a:r>
            <a:r>
              <a:rPr sz="2100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的所有列都包含在非聚集索引的键中）。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5994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2"/>
          <p:cNvSpPr/>
          <p:nvPr/>
        </p:nvSpPr>
        <p:spPr>
          <a:xfrm>
            <a:off x="1386331" y="1979812"/>
            <a:ext cx="9687559" cy="3892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508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</a:t>
            </a:r>
            <a:r>
              <a:rPr sz="2400" b="1" kern="0" spc="2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[UNIQ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UE]</a:t>
            </a:r>
            <a:r>
              <a:rPr sz="2400" b="1" kern="0" spc="2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[CLUSTERED</a:t>
            </a:r>
            <a:r>
              <a:rPr sz="2400" b="1" kern="0" spc="2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4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NONCLUSTERED]</a:t>
            </a:r>
            <a:r>
              <a:rPr sz="24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INDEX</a:t>
            </a:r>
            <a:r>
              <a:rPr sz="2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index_name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34925" indent="-22225" algn="l" rtl="0" eaLnBrk="0">
              <a:lnSpc>
                <a:spcPct val="107000"/>
              </a:lnSpc>
              <a:spcBef>
                <a:spcPts val="23"/>
              </a:spcBef>
              <a:tabLst/>
            </a:pP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 table_name</a:t>
            </a:r>
            <a:r>
              <a:rPr sz="2400" b="1" kern="0" spc="1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(colum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n1</a:t>
            </a:r>
            <a:r>
              <a:rPr sz="2400" b="1" kern="0" spc="2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[ASC|DESC], column2</a:t>
            </a:r>
            <a:r>
              <a:rPr sz="2400" b="1" kern="0" spc="2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[ASC|DESC], ...)</a:t>
            </a:r>
            <a:r>
              <a:rPr sz="2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[INCLUDE</a:t>
            </a:r>
            <a:r>
              <a:rPr sz="2400" b="1" kern="0" spc="1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(include_column1, include_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column2, ...)]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34925" algn="l" rtl="0" eaLnBrk="0">
              <a:lnSpc>
                <a:spcPts val="3090"/>
              </a:lnSpc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[WHERE condition]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34925" algn="l" rtl="0" eaLnBrk="0">
              <a:lnSpc>
                <a:spcPts val="3131"/>
              </a:lnSpc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[WITH</a:t>
            </a:r>
            <a:r>
              <a:rPr sz="2400" b="1" kern="0" spc="1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(index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_option</a:t>
            </a:r>
            <a:r>
              <a:rPr sz="2400" b="1" kern="0" spc="3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= value, ...)];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1000"/>
              </a:lnSpc>
              <a:spcBef>
                <a:spcPts val="720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5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INCLUDE：创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建覆盖索引，包含某些列，提高查询速度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1000"/>
              </a:lnSpc>
              <a:spcBef>
                <a:spcPts val="475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WHERE：限定只对某些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行创建索引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1000"/>
              </a:lnSpc>
              <a:spcBef>
                <a:spcPts val="476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WITH：设定某些特定的选项，比如填充因子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4511564" y="1033188"/>
            <a:ext cx="2259964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创建索引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6844" y="1978164"/>
            <a:ext cx="6067043" cy="3589007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6797095" y="2634076"/>
            <a:ext cx="4431665" cy="960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9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2000"/>
              </a:lnSpc>
              <a:tabLst/>
            </a:pPr>
            <a:r>
              <a:rPr sz="20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20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authors</a:t>
            </a:r>
            <a:r>
              <a:rPr sz="20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表中</a:t>
            </a:r>
            <a:r>
              <a:rPr sz="20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auth</a:t>
            </a:r>
            <a:r>
              <a:rPr sz="20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0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phone</a:t>
            </a:r>
            <a:r>
              <a:rPr sz="20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列上创建一</a:t>
            </a:r>
            <a:r>
              <a:rPr sz="20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个名称为Idx_phone的唯一聚集索引</a:t>
            </a:r>
            <a:r>
              <a:rPr sz="20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0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降序排列，填充因子为30%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4966591" y="814470"/>
            <a:ext cx="2259964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创建索引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0059" y="2478024"/>
            <a:ext cx="6056300" cy="1901926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6640659" y="2360654"/>
            <a:ext cx="4509770" cy="1731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600" indent="-216534" algn="l" rtl="0" eaLnBrk="0">
              <a:lnSpc>
                <a:spcPct val="93000"/>
              </a:lnSpc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在authors表中auth_name和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auth_gender列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上创建一个名称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为Idx_nameAndg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ender的唯一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非聚集组合索引，升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序排列，填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充因子为10%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4966591" y="1039228"/>
            <a:ext cx="2259964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创建索引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2" name="picture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4"/>
          <p:cNvSpPr/>
          <p:nvPr/>
        </p:nvSpPr>
        <p:spPr>
          <a:xfrm>
            <a:off x="934467" y="2004678"/>
            <a:ext cx="10147300" cy="410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600" indent="-215900" algn="l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2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创建索引时，可以指定一个填充因子，</a:t>
            </a:r>
            <a:r>
              <a:rPr sz="2600" kern="0" spc="-6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以便在索引的每个叶级页上留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出额外的间隙和保留一定百分比的空间，供将来表的数据存储容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量进 </a:t>
            </a:r>
            <a:r>
              <a:rPr sz="26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行扩充和减少页拆分的可能性。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8600" indent="-215900" algn="l" rtl="0" eaLnBrk="0">
              <a:lnSpc>
                <a:spcPct val="90000"/>
              </a:lnSpc>
              <a:spcBef>
                <a:spcPts val="783"/>
              </a:spcBef>
              <a:tabLst/>
            </a:pP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4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100%：表示页将填满，所留出的存储空间量最小</a:t>
            </a:r>
            <a:r>
              <a:rPr sz="26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。只有当不会对数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据进行更改时（例如，在只读表中）才会使用此设置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7965" indent="-215265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1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值越小则数据页上的空闲空间越大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，这样可以减少在索引增长过程中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对数据页进行拆分的需要，但需要更多的存储空间。当表中数据会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 </a:t>
            </a:r>
            <a:r>
              <a:rPr sz="26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生更改时，这种设置更为适当。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4971624" y="878479"/>
            <a:ext cx="2254885" cy="634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填充因子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20"/>
          <p:cNvSpPr/>
          <p:nvPr/>
        </p:nvSpPr>
        <p:spPr>
          <a:xfrm>
            <a:off x="935759" y="2351224"/>
            <a:ext cx="10255884" cy="3290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09"/>
              </a:lnSpc>
              <a:tabLst/>
            </a:pPr>
            <a:r>
              <a:rPr sz="2700" kern="0" spc="1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1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触发器（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trigger</a:t>
            </a:r>
            <a:r>
              <a:rPr sz="2700" kern="0" spc="1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）是一种</a:t>
            </a:r>
            <a:r>
              <a:rPr sz="2700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特殊类型的存储过程（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procedure</a:t>
            </a:r>
            <a:r>
              <a:rPr sz="2700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8600" indent="-215900" algn="l" rtl="0" eaLnBrk="0">
              <a:lnSpc>
                <a:spcPct val="94000"/>
              </a:lnSpc>
              <a:spcBef>
                <a:spcPts val="816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不同之处：触发器通过事件进行触发而被执行；而存储过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程通过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过程名进行调用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6695" indent="-213995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当往某一个表中插入、修改或者删除记录时，</a:t>
            </a:r>
            <a:r>
              <a:rPr sz="2700" kern="0" spc="-5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可以自动执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触发器所定义的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语句，</a:t>
            </a:r>
            <a:r>
              <a:rPr sz="2700" kern="0" spc="3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从而确保对数据的处理必须符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合规则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5249244" y="1405645"/>
            <a:ext cx="169862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26"/>
          <p:cNvSpPr/>
          <p:nvPr/>
        </p:nvSpPr>
        <p:spPr>
          <a:xfrm>
            <a:off x="935759" y="2417626"/>
            <a:ext cx="10452734" cy="2456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触发器和引起触发器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执行的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语句被当作一次</a:t>
            </a:r>
            <a:r>
              <a:rPr sz="2700" b="1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事务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609"/>
              </a:lnSpc>
              <a:spcBef>
                <a:spcPts val="813"/>
              </a:spcBef>
              <a:tabLst/>
            </a:pPr>
            <a:r>
              <a:rPr sz="2700" kern="0" spc="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事务如果未获成功</a:t>
            </a: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会自动返回该事务执行前的状态（</a:t>
            </a:r>
            <a:r>
              <a:rPr sz="2700" b="1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回滚</a:t>
            </a:r>
            <a:r>
              <a:rPr sz="2700" kern="0" spc="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7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实现复杂的数据完整性约束的高效手段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5249244" y="1405645"/>
            <a:ext cx="169862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2"/>
          <p:cNvSpPr/>
          <p:nvPr/>
        </p:nvSpPr>
        <p:spPr>
          <a:xfrm>
            <a:off x="934467" y="1774458"/>
            <a:ext cx="10147300" cy="402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600" indent="-215900" algn="l" rtl="0" eaLnBrk="0">
              <a:lnSpc>
                <a:spcPct val="91000"/>
              </a:lnSpc>
              <a:tabLst/>
            </a:pP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1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触发器可以实现由主键和外键所不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能保证的复杂的参照完整性和数据</a:t>
            </a:r>
            <a:r>
              <a:rPr sz="26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一致性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61"/>
              </a:lnSpc>
              <a:spcBef>
                <a:spcPts val="786"/>
              </a:spcBef>
              <a:tabLst/>
            </a:pP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600" kern="0" spc="20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6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相比于其他约束手段（如CHECK， ADD CONSTRAINT</a:t>
            </a:r>
            <a:r>
              <a:rPr sz="2600" kern="0" spc="-4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）：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4000"/>
              </a:lnSpc>
              <a:spcBef>
                <a:spcPts val="639"/>
              </a:spcBef>
              <a:tabLst/>
            </a:pP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触发器是自动的，由事件触发的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5000"/>
              </a:lnSpc>
              <a:spcBef>
                <a:spcPts val="631"/>
              </a:spcBef>
              <a:tabLst/>
            </a:pP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7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触发器可以通过数据库中的相关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表进行层叠更改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2100" kern="0" spc="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7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触发器可以实现更复杂的约束条件（如触发器可以引用</a:t>
            </a:r>
            <a:r>
              <a:rPr sz="2100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其他表中的列）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4409520" y="687188"/>
            <a:ext cx="337629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触发器的优势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8"/>
          <p:cNvSpPr/>
          <p:nvPr/>
        </p:nvSpPr>
        <p:spPr>
          <a:xfrm>
            <a:off x="938506" y="2465784"/>
            <a:ext cx="9928225" cy="3345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3100" kern="0" spc="-2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3100" b="1" kern="0" spc="-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作用总结：</a:t>
            </a:r>
            <a:endParaRPr sz="31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4000"/>
              </a:lnSpc>
              <a:spcBef>
                <a:spcPts val="808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强制数据库间的引用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完整性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79450" indent="-212725" algn="l" rtl="0" eaLnBrk="0">
              <a:lnSpc>
                <a:spcPct val="99000"/>
              </a:lnSpc>
              <a:spcBef>
                <a:spcPts val="808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级联修改数据库中所有相关的表，自动触发其他与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之相关的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操作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4000"/>
              </a:lnSpc>
              <a:spcBef>
                <a:spcPts val="808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跟踪变化，撤销或回顾违法操作，防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止非法修改数据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4000"/>
              </a:lnSpc>
              <a:spcBef>
                <a:spcPts val="817"/>
              </a:spcBef>
              <a:tabLst/>
            </a:pP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返回自定义的错误信息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触发器可以调用更多的存储过程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5249244" y="1405645"/>
            <a:ext cx="169862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/>
          <p:nvPr/>
        </p:nvSpPr>
        <p:spPr>
          <a:xfrm>
            <a:off x="935759" y="2417271"/>
            <a:ext cx="10278744" cy="3271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数据操作语言（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DML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）触发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80719" indent="-213995" algn="l" rtl="0" eaLnBrk="0">
              <a:lnSpc>
                <a:spcPct val="91000"/>
              </a:lnSpc>
              <a:spcBef>
                <a:spcPts val="454"/>
              </a:spcBef>
              <a:tabLst/>
            </a:pP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4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当数据库服务器中发生数据操作(INSERT,</a:t>
            </a:r>
            <a:r>
              <a:rPr sz="2400" kern="0" spc="1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UPDATE,</a:t>
            </a:r>
            <a:r>
              <a:rPr sz="2400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DELETE)事件时被激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活调用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1000"/>
              </a:lnSpc>
              <a:spcBef>
                <a:spcPts val="476"/>
              </a:spcBef>
              <a:tabLst/>
            </a:pP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这类触发器又可以分为: </a:t>
            </a:r>
            <a:r>
              <a:rPr sz="2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AFTER触发器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2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NSTEAD OF触发器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12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数据定义语言（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）触发器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683894" indent="-217170" algn="l" rtl="0" eaLnBrk="0">
              <a:lnSpc>
                <a:spcPct val="91000"/>
              </a:lnSpc>
              <a:spcBef>
                <a:spcPts val="454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4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当数据库服务器中发生数据定义(CREATE, ALTER,</a:t>
            </a:r>
            <a:r>
              <a:rPr sz="2400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DROP)事件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时被激活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调用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4689936" y="1405645"/>
            <a:ext cx="281749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触发器分类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50"/>
          <p:cNvSpPr/>
          <p:nvPr/>
        </p:nvSpPr>
        <p:spPr>
          <a:xfrm>
            <a:off x="803955" y="3248310"/>
            <a:ext cx="10631169" cy="308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3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6695" indent="-214629" algn="l" rtl="0" eaLnBrk="0">
              <a:lnSpc>
                <a:spcPct val="99000"/>
              </a:lnSpc>
              <a:tabLst/>
            </a:pP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针对每个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DML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触发器定义两个特殊的表：</a:t>
            </a:r>
            <a:r>
              <a:rPr sz="2700" kern="0" spc="-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DELETED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表和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INSERTED </a:t>
            </a:r>
            <a:r>
              <a:rPr sz="2700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1000"/>
              </a:lnSpc>
              <a:spcBef>
                <a:spcPts val="186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6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DELETED表存放执行DELETE或者UPDATE语句而要删除的所有行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1000"/>
              </a:lnSpc>
              <a:spcBef>
                <a:spcPts val="187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5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INSERTED表存放执行INSERT或者UPDATE语句而要插入的所有行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20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这两个逻辑表在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内存中存放，用户不可修改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1000"/>
              </a:lnSpc>
              <a:spcBef>
                <a:spcPts val="6"/>
              </a:spcBef>
              <a:tabLst/>
            </a:pP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触发器执行完后，与该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触发器相关的两个表也会在内存中删除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803955" y="576976"/>
            <a:ext cx="6805294" cy="2059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400" b="1" kern="0" spc="-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DML触发器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831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触发器：由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语句触发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683"/>
              </a:spcBef>
              <a:tabLst/>
            </a:pP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触发器：由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语句触发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671"/>
              </a:spcBef>
              <a:tabLst/>
            </a:pPr>
            <a:r>
              <a:rPr sz="2700" kern="0" spc="1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</a:t>
            </a:r>
            <a:r>
              <a:rPr sz="2700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触发器：由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</a:t>
            </a:r>
            <a:r>
              <a:rPr sz="2700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语句触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4" name="picture 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56"/>
          <p:cNvSpPr/>
          <p:nvPr/>
        </p:nvSpPr>
        <p:spPr>
          <a:xfrm>
            <a:off x="1375968" y="1405645"/>
            <a:ext cx="6690359" cy="411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触发器创建语法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ts val="3167"/>
              </a:lnSpc>
              <a:spcBef>
                <a:spcPts val="728"/>
              </a:spcBef>
              <a:tabLst/>
            </a:pP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 TRIGGER trigger_nam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2859" algn="l" rtl="0" eaLnBrk="0">
              <a:lnSpc>
                <a:spcPts val="3059"/>
              </a:lnSpc>
              <a:spcBef>
                <a:spcPts val="36"/>
              </a:spcBef>
              <a:tabLst/>
            </a:pP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 {table</a:t>
            </a:r>
            <a:r>
              <a:rPr sz="2400" b="1" kern="0" spc="2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400" b="1" kern="0" spc="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view}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78000"/>
              </a:lnSpc>
              <a:spcBef>
                <a:spcPts val="631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AFTER {DELET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E,</a:t>
            </a:r>
            <a:r>
              <a:rPr sz="2400" b="1" kern="0" spc="2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UPDATE,</a:t>
            </a:r>
            <a:r>
              <a:rPr sz="24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246"/>
              </a:lnSpc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AS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6034" algn="l" rtl="0" eaLnBrk="0">
              <a:lnSpc>
                <a:spcPct val="84000"/>
              </a:lnSpc>
              <a:spcBef>
                <a:spcPts val="678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SQL_statement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91000"/>
              </a:lnSpc>
              <a:spcBef>
                <a:spcPts val="727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触发器名字必须是唯一的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6669" algn="l" rtl="0" eaLnBrk="0">
              <a:lnSpc>
                <a:spcPct val="91000"/>
              </a:lnSpc>
              <a:spcBef>
                <a:spcPts val="476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触发器可以在表或者视图上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4922329" y="1418653"/>
          <a:ext cx="3822064" cy="1579245"/>
        </p:xfrm>
        <a:graphic>
          <a:graphicData uri="http://schemas.openxmlformats.org/drawingml/2006/table">
            <a:tbl>
              <a:tblPr/>
              <a:tblGrid>
                <a:gridCol w="3822064"/>
              </a:tblGrid>
              <a:tr h="15697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indent="5714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2.在内存中创建INSERTED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和DELETED表，然后根据语</a:t>
                      </a:r>
                      <a:r>
                        <a:rPr sz="2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句完成对表中数据的插入</a:t>
                      </a:r>
                      <a:r>
                        <a:rPr sz="24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、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删除和更新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8033249" y="2611380"/>
            <a:ext cx="4116639" cy="3773957"/>
            <a:chOff x="0" y="0"/>
            <a:chExt cx="4116639" cy="3773957"/>
          </a:xfrm>
        </p:grpSpPr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116639" cy="3773957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-12700" y="-12700"/>
              <a:ext cx="4142104" cy="38176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52830" algn="l" rtl="0" eaLnBrk="0">
                <a:lnSpc>
                  <a:spcPct val="86000"/>
                </a:lnSpc>
                <a:spcBef>
                  <a:spcPts val="5"/>
                </a:spcBef>
                <a:tabLst/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INSERT语句只需创建</a:t>
              </a:r>
              <a:endParaRPr sz="1800" dirty="0">
                <a:latin typeface="DengXian"/>
                <a:ea typeface="DengXian"/>
                <a:cs typeface="DengXian"/>
              </a:endParaRPr>
            </a:p>
            <a:p>
              <a:pPr marL="767715" indent="15240" algn="l" rtl="0" eaLnBrk="0">
                <a:lnSpc>
                  <a:spcPct val="95000"/>
                </a:lnSpc>
                <a:spcBef>
                  <a:spcPts val="324"/>
                </a:spcBef>
                <a:tabLst/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INSERTED表，</a:t>
              </a:r>
              <a:r>
                <a:rPr sz="1800" kern="0" spc="-34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DELET</a:t>
              </a: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E语句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</a:t>
              </a:r>
              <a:r>
                <a:rPr sz="1800" kern="0" spc="6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只需创建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DELETED</a:t>
              </a:r>
              <a:r>
                <a:rPr sz="1800" kern="0" spc="6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表，而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 </a:t>
              </a: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UPDATE语句需要两个表。</a:t>
              </a:r>
              <a:endParaRPr sz="18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166" name="textbox 166"/>
          <p:cNvSpPr/>
          <p:nvPr/>
        </p:nvSpPr>
        <p:spPr>
          <a:xfrm>
            <a:off x="3512839" y="440027"/>
            <a:ext cx="8052434" cy="699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4"/>
              </a:spcBef>
              <a:tabLst/>
            </a:pPr>
            <a:r>
              <a:rPr sz="4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DML触发器执行过程</a:t>
            </a:r>
            <a:r>
              <a:rPr sz="4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2796" y="452727"/>
            <a:ext cx="1484897" cy="397564"/>
          </a:xfrm>
          <a:prstGeom prst="rect">
            <a:avLst/>
          </a:prstGeom>
        </p:spPr>
      </p:pic>
      <p:graphicFrame>
        <p:nvGraphicFramePr>
          <p:cNvPr id="170" name="table 170"/>
          <p:cNvGraphicFramePr>
            <a:graphicFrameLocks noGrp="1"/>
          </p:cNvGraphicFramePr>
          <p:nvPr/>
        </p:nvGraphicFramePr>
        <p:xfrm>
          <a:off x="3015805" y="3860101"/>
          <a:ext cx="3822064" cy="1208404"/>
        </p:xfrm>
        <a:graphic>
          <a:graphicData uri="http://schemas.openxmlformats.org/drawingml/2006/table">
            <a:tbl>
              <a:tblPr/>
              <a:tblGrid>
                <a:gridCol w="3822064"/>
              </a:tblGrid>
              <a:tr h="1198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indent="63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3. 执行触发器创建时的SQL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语句，完成额外处理（如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</a:t>
                      </a:r>
                      <a:r>
                        <a:rPr sz="2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约束检验）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2" name="table 172"/>
          <p:cNvGraphicFramePr>
            <a:graphicFrameLocks noGrp="1"/>
          </p:cNvGraphicFramePr>
          <p:nvPr/>
        </p:nvGraphicFramePr>
        <p:xfrm>
          <a:off x="594169" y="1603057"/>
          <a:ext cx="3264534" cy="1210309"/>
        </p:xfrm>
        <a:graphic>
          <a:graphicData uri="http://schemas.openxmlformats.org/drawingml/2006/table">
            <a:tbl>
              <a:tblPr/>
              <a:tblGrid>
                <a:gridCol w="3264534"/>
              </a:tblGrid>
              <a:tr h="1200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indent="1206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1.</a:t>
                      </a:r>
                      <a:r>
                        <a:rPr sz="24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INSERT,</a:t>
                      </a:r>
                      <a:r>
                        <a:rPr sz="2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DELETE, 或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者UPDATE语句执行开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始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table 174"/>
          <p:cNvGraphicFramePr>
            <a:graphicFrameLocks noGrp="1"/>
          </p:cNvGraphicFramePr>
          <p:nvPr/>
        </p:nvGraphicFramePr>
        <p:xfrm>
          <a:off x="3229165" y="5792533"/>
          <a:ext cx="3395344" cy="840105"/>
        </p:xfrm>
        <a:graphic>
          <a:graphicData uri="http://schemas.openxmlformats.org/drawingml/2006/table">
            <a:tbl>
              <a:tblPr/>
              <a:tblGrid>
                <a:gridCol w="3395344"/>
              </a:tblGrid>
              <a:tr h="830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indent="-17779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4.</a:t>
                      </a:r>
                      <a:r>
                        <a:rPr sz="24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INSERT,</a:t>
                      </a:r>
                      <a:r>
                        <a:rPr sz="2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DELETE, 或者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UPDATE语句执行结束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6" name="path 176"/>
          <p:cNvSpPr/>
          <p:nvPr/>
        </p:nvSpPr>
        <p:spPr>
          <a:xfrm>
            <a:off x="5006566" y="2976571"/>
            <a:ext cx="1835960" cy="866325"/>
          </a:xfrm>
          <a:custGeom>
            <a:avLst/>
            <a:gdLst/>
            <a:ahLst/>
            <a:cxnLst/>
            <a:rect l="0" t="0" r="0" b="0"/>
            <a:pathLst>
              <a:path w="2891" h="1364">
                <a:moveTo>
                  <a:pt x="2878" y="27"/>
                </a:moveTo>
                <a:lnTo>
                  <a:pt x="12" y="1337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3854958" y="2151893"/>
            <a:ext cx="1072254" cy="114300"/>
            <a:chOff x="0" y="0"/>
            <a:chExt cx="1072254" cy="114300"/>
          </a:xfrm>
        </p:grpSpPr>
        <p:sp>
          <p:nvSpPr>
            <p:cNvPr id="178" name="path 178"/>
            <p:cNvSpPr/>
            <p:nvPr/>
          </p:nvSpPr>
          <p:spPr>
            <a:xfrm>
              <a:off x="0" y="38096"/>
              <a:ext cx="976998" cy="38100"/>
            </a:xfrm>
            <a:custGeom>
              <a:avLst/>
              <a:gdLst/>
              <a:ahLst/>
              <a:cxnLst/>
              <a:rect l="0" t="0" r="0" b="0"/>
              <a:pathLst>
                <a:path w="1538" h="60">
                  <a:moveTo>
                    <a:pt x="0" y="30"/>
                  </a:moveTo>
                  <a:lnTo>
                    <a:pt x="1538" y="30"/>
                  </a:ln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" name="path 180"/>
            <p:cNvSpPr/>
            <p:nvPr/>
          </p:nvSpPr>
          <p:spPr>
            <a:xfrm>
              <a:off x="957954" y="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80" h="180">
                  <a:moveTo>
                    <a:pt x="0" y="180"/>
                  </a:moveTo>
                  <a:lnTo>
                    <a:pt x="180" y="90"/>
                  </a:lnTo>
                  <a:lnTo>
                    <a:pt x="0" y="0"/>
                  </a:lnTo>
                  <a:lnTo>
                    <a:pt x="0" y="18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4870699" y="5065014"/>
            <a:ext cx="114300" cy="731979"/>
            <a:chOff x="0" y="0"/>
            <a:chExt cx="114300" cy="731979"/>
          </a:xfrm>
        </p:grpSpPr>
        <p:sp>
          <p:nvSpPr>
            <p:cNvPr id="182" name="path 182"/>
            <p:cNvSpPr/>
            <p:nvPr/>
          </p:nvSpPr>
          <p:spPr>
            <a:xfrm>
              <a:off x="38105" y="0"/>
              <a:ext cx="38100" cy="636727"/>
            </a:xfrm>
            <a:custGeom>
              <a:avLst/>
              <a:gdLst/>
              <a:ahLst/>
              <a:cxnLst/>
              <a:rect l="0" t="0" r="0" b="0"/>
              <a:pathLst>
                <a:path w="60" h="1002">
                  <a:moveTo>
                    <a:pt x="30" y="0"/>
                  </a:moveTo>
                  <a:lnTo>
                    <a:pt x="30" y="1002"/>
                  </a:ln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" name="path 184"/>
            <p:cNvSpPr/>
            <p:nvPr/>
          </p:nvSpPr>
          <p:spPr>
            <a:xfrm>
              <a:off x="0" y="617679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80" h="180">
                  <a:moveTo>
                    <a:pt x="0" y="0"/>
                  </a:moveTo>
                  <a:lnTo>
                    <a:pt x="90" y="180"/>
                  </a:lnTo>
                  <a:lnTo>
                    <a:pt x="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86" name="textbox 186"/>
          <p:cNvSpPr/>
          <p:nvPr/>
        </p:nvSpPr>
        <p:spPr>
          <a:xfrm>
            <a:off x="4915157" y="3752968"/>
            <a:ext cx="153670" cy="129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8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▲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98676" y="2872740"/>
            <a:ext cx="8685262" cy="1452372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1379931" y="772599"/>
            <a:ext cx="6127115" cy="1296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7"/>
              </a:lnSpc>
              <a:spcBef>
                <a:spcPts val="4"/>
              </a:spcBef>
              <a:tabLst/>
            </a:pPr>
            <a:r>
              <a:rPr sz="24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假设已创建下表 stu_info: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32787" y="1865376"/>
            <a:ext cx="9619425" cy="4280915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3430573" y="883131"/>
            <a:ext cx="537972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INSERT触发器：示例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8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icture 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9491" y="1924812"/>
            <a:ext cx="10084306" cy="3656074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3430573" y="782649"/>
            <a:ext cx="537972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INSERT触发器：示例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4876" y="2290571"/>
            <a:ext cx="7060691" cy="2923019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1194866" y="1405645"/>
            <a:ext cx="977519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INSERT触发器：示例（禁止插入数据）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62100" y="5553455"/>
            <a:ext cx="6227050" cy="701039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455" y="2218944"/>
            <a:ext cx="7181087" cy="2884932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3422922" y="772599"/>
            <a:ext cx="5394959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DELETE触发器：示例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8" name="picture 2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2103120" y="2134133"/>
            <a:ext cx="9757038" cy="2745714"/>
            <a:chOff x="0" y="0"/>
            <a:chExt cx="9757038" cy="2745714"/>
          </a:xfrm>
        </p:grpSpPr>
        <p:pic>
          <p:nvPicPr>
            <p:cNvPr id="220" name="picture 2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757038" cy="2745714"/>
            </a:xfrm>
            <a:prstGeom prst="rect">
              <a:avLst/>
            </a:prstGeom>
          </p:spPr>
        </p:pic>
        <p:sp>
          <p:nvSpPr>
            <p:cNvPr id="222" name="textbox 222"/>
            <p:cNvSpPr/>
            <p:nvPr/>
          </p:nvSpPr>
          <p:spPr>
            <a:xfrm>
              <a:off x="-12700" y="-12700"/>
              <a:ext cx="9782809" cy="27914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22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503034" indent="-25400" algn="l" rtl="0" eaLnBrk="0">
                <a:lnSpc>
                  <a:spcPct val="93000"/>
                </a:lnSpc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这里返回的结果记录是从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 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DELETED表中查询得到的</a:t>
              </a:r>
              <a:endParaRPr sz="18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24" name="textbox 224"/>
          <p:cNvSpPr/>
          <p:nvPr/>
        </p:nvSpPr>
        <p:spPr>
          <a:xfrm>
            <a:off x="3422922" y="1405645"/>
            <a:ext cx="5394959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DELETE触发器：示例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228"/>
          <p:cNvSpPr/>
          <p:nvPr/>
        </p:nvSpPr>
        <p:spPr>
          <a:xfrm>
            <a:off x="935759" y="1405645"/>
            <a:ext cx="7642225" cy="3231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23895" algn="l" rtl="0" eaLnBrk="0">
              <a:lnSpc>
                <a:spcPct val="91000"/>
              </a:lnSpc>
              <a:tabLst/>
            </a:pPr>
            <a:r>
              <a:rPr sz="4400" b="1" kern="0" spc="-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21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触发器主要用来约束对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现有数据的修改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814"/>
              </a:spcBef>
              <a:tabLst/>
            </a:pPr>
            <a:r>
              <a:rPr sz="2700" kern="0" spc="-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UPDATE触发器可以执行两种操</a:t>
            </a:r>
            <a:r>
              <a:rPr sz="2700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作：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1000"/>
              </a:lnSpc>
              <a:spcBef>
                <a:spcPts val="487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更新前的记录存储到DELETE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D表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1000"/>
              </a:lnSpc>
              <a:spcBef>
                <a:spcPts val="463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更新后的记录存储到INS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ERTED表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06624" y="2333244"/>
            <a:ext cx="6778750" cy="3177539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3307787" y="1405645"/>
            <a:ext cx="561975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UPDATE触发器：</a:t>
            </a:r>
            <a:r>
              <a:rPr sz="4400" b="1" kern="0" spc="-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 rot="21600000">
            <a:off x="2154936" y="2327148"/>
            <a:ext cx="9883803" cy="3055618"/>
            <a:chOff x="0" y="0"/>
            <a:chExt cx="9883803" cy="3055618"/>
          </a:xfrm>
        </p:grpSpPr>
        <p:pic>
          <p:nvPicPr>
            <p:cNvPr id="238" name="picture 2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883803" cy="3055618"/>
            </a:xfrm>
            <a:prstGeom prst="rect">
              <a:avLst/>
            </a:prstGeom>
          </p:spPr>
        </p:pic>
        <p:sp>
          <p:nvSpPr>
            <p:cNvPr id="240" name="textbox 240"/>
            <p:cNvSpPr/>
            <p:nvPr/>
          </p:nvSpPr>
          <p:spPr>
            <a:xfrm>
              <a:off x="-12700" y="-12700"/>
              <a:ext cx="9909809" cy="31013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235190" algn="l" rtl="0" eaLnBrk="0">
                <a:lnSpc>
                  <a:spcPct val="86000"/>
                </a:lnSpc>
                <a:spcBef>
                  <a:spcPts val="5"/>
                </a:spcBef>
                <a:tabLst/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这里返回的结果记录</a:t>
              </a:r>
              <a:endParaRPr sz="1800" dirty="0">
                <a:latin typeface="DengXian"/>
                <a:ea typeface="DengXian"/>
                <a:cs typeface="DengXian"/>
              </a:endParaRPr>
            </a:p>
            <a:p>
              <a:pPr marL="7204709" algn="l" rtl="0" eaLnBrk="0">
                <a:lnSpc>
                  <a:spcPct val="86000"/>
                </a:lnSpc>
                <a:spcBef>
                  <a:spcPts val="303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是分别从INSERTED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和</a:t>
              </a:r>
              <a:endParaRPr sz="1800" dirty="0">
                <a:latin typeface="DengXian"/>
                <a:ea typeface="DengXian"/>
                <a:cs typeface="DengXian"/>
              </a:endParaRPr>
            </a:p>
            <a:p>
              <a:pPr marL="7259955" algn="l" rtl="0" eaLnBrk="0">
                <a:lnSpc>
                  <a:spcPct val="86000"/>
                </a:lnSpc>
                <a:spcBef>
                  <a:spcPts val="302"/>
                </a:spcBef>
                <a:tabLst/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DELETED表中查询得</a:t>
              </a:r>
              <a:endParaRPr sz="1800" dirty="0">
                <a:latin typeface="DengXian"/>
                <a:ea typeface="DengXian"/>
                <a:cs typeface="DengXian"/>
              </a:endParaRPr>
            </a:p>
            <a:p>
              <a:pPr marL="8036559" algn="l" rtl="0" eaLnBrk="0">
                <a:lnSpc>
                  <a:spcPct val="86000"/>
                </a:lnSpc>
                <a:spcBef>
                  <a:spcPts val="303"/>
                </a:spcBef>
                <a:tabLst/>
              </a:pPr>
              <a:r>
                <a:rPr sz="1800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到的</a:t>
              </a:r>
              <a:endParaRPr sz="18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42" name="textbox 242"/>
          <p:cNvSpPr/>
          <p:nvPr/>
        </p:nvSpPr>
        <p:spPr>
          <a:xfrm>
            <a:off x="3307787" y="1405645"/>
            <a:ext cx="561975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UPDATE触发器：</a:t>
            </a:r>
            <a:r>
              <a:rPr sz="4400" b="1" kern="0" spc="-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75659" y="2453641"/>
            <a:ext cx="5204459" cy="3342130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3135543" y="1405645"/>
            <a:ext cx="596519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UPDATE触发器：示例2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2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72383" y="2435352"/>
            <a:ext cx="4812790" cy="1629155"/>
          </a:xfrm>
          <a:prstGeom prst="rect">
            <a:avLst/>
          </a:prstGeom>
        </p:spPr>
      </p:pic>
      <p:pic>
        <p:nvPicPr>
          <p:cNvPr id="254" name="picture 2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88236" y="4469892"/>
            <a:ext cx="3590544" cy="1629155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3135543" y="1405645"/>
            <a:ext cx="596519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UPDATE触发器：示例2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87440" y="4782311"/>
            <a:ext cx="4047742" cy="697991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262"/>
          <p:cNvSpPr/>
          <p:nvPr/>
        </p:nvSpPr>
        <p:spPr>
          <a:xfrm>
            <a:off x="1375968" y="2353948"/>
            <a:ext cx="8773794" cy="277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ts val="3167"/>
              </a:lnSpc>
              <a:tabLst/>
            </a:pP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 TRIGGER trigger_nam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2859" algn="l" rtl="0" eaLnBrk="0">
              <a:lnSpc>
                <a:spcPts val="3059"/>
              </a:lnSpc>
              <a:spcBef>
                <a:spcPts val="36"/>
              </a:spcBef>
              <a:tabLst/>
            </a:pP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 {table</a:t>
            </a:r>
            <a:r>
              <a:rPr sz="2400" b="1" kern="0" spc="2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400" b="1" kern="0" spc="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view}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36830" algn="l" rtl="0" eaLnBrk="0">
              <a:lnSpc>
                <a:spcPct val="78000"/>
              </a:lnSpc>
              <a:spcBef>
                <a:spcPts val="631"/>
              </a:spcBef>
              <a:tabLst/>
            </a:pP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INSTEAD OF {DELETE,</a:t>
            </a:r>
            <a:r>
              <a:rPr sz="2400" b="1" kern="0" spc="2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UPDATE,</a:t>
            </a:r>
            <a:r>
              <a:rPr sz="24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246"/>
              </a:lnSpc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AS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6034" algn="l" rtl="0" eaLnBrk="0">
              <a:lnSpc>
                <a:spcPct val="84000"/>
              </a:lnSpc>
              <a:spcBef>
                <a:spcPts val="678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SQL_statement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91000"/>
              </a:lnSpc>
              <a:spcBef>
                <a:spcPts val="7"/>
              </a:spcBef>
              <a:tabLst/>
            </a:pP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与AFTER触发器语法上的区别：关键词AF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TER变成INSTEAD OF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2218088" y="1031510"/>
            <a:ext cx="689292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DML替代触发器：创建语法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268"/>
          <p:cNvSpPr/>
          <p:nvPr/>
        </p:nvSpPr>
        <p:spPr>
          <a:xfrm>
            <a:off x="1382674" y="1826115"/>
            <a:ext cx="9946640" cy="458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2400" b="1" kern="0" spc="-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与之前触发器的区别：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33679" indent="-213359" algn="l" rtl="0" eaLnBrk="0">
              <a:lnSpc>
                <a:spcPct val="106000"/>
              </a:lnSpc>
              <a:spcBef>
                <a:spcPts val="1023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4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当一个AFTER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触发器被激发后，先建立临时的INSERTED和DELETED表，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然后执行对表中数据的操作，最后再执行触发器中的SQ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L代码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7490" indent="-217170" algn="l" rtl="0" eaLnBrk="0">
              <a:lnSpc>
                <a:spcPct val="110000"/>
              </a:lnSpc>
              <a:spcBef>
                <a:spcPts val="721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4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当一个替代(INSTEAD OF)触发器被激发后，先建立临时的INSERTED和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DELETED表，然后直接执行触发器中的SQL代码，而</a:t>
            </a:r>
            <a:r>
              <a:rPr sz="24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不会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执行对表中数  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据的操作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37490" indent="-217170" algn="l" rtl="0" eaLnBrk="0">
              <a:lnSpc>
                <a:spcPct val="105000"/>
              </a:lnSpc>
              <a:spcBef>
                <a:spcPts val="2"/>
              </a:spcBef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4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即区别在于激发触发器的数据操作语句（IN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SERT/UPDATE/DELETE）是</a:t>
            </a:r>
            <a:r>
              <a:rPr sz="24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否会被执行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4692173" y="940281"/>
            <a:ext cx="2814954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替代触发器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" name="table 274"/>
          <p:cNvGraphicFramePr>
            <a:graphicFrameLocks noGrp="1"/>
          </p:cNvGraphicFramePr>
          <p:nvPr/>
        </p:nvGraphicFramePr>
        <p:xfrm>
          <a:off x="594169" y="1603057"/>
          <a:ext cx="8150224" cy="1210310"/>
        </p:xfrm>
        <a:graphic>
          <a:graphicData uri="http://schemas.openxmlformats.org/drawingml/2006/table">
            <a:tbl>
              <a:tblPr/>
              <a:tblGrid>
                <a:gridCol w="3260089"/>
                <a:gridCol w="1072514"/>
                <a:gridCol w="3817620"/>
              </a:tblGrid>
              <a:tr h="200025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indent="1206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1.</a:t>
                      </a:r>
                      <a:r>
                        <a:rPr sz="24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INSERT,</a:t>
                      </a:r>
                      <a:r>
                        <a:rPr sz="2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DELETE, 或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者UPDATE语句执行开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始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44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44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220" indent="-1270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2. 在内存中创建INSERTED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和DELETED表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73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0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 rot="21600000">
            <a:off x="8033249" y="2611380"/>
            <a:ext cx="4116639" cy="3773957"/>
            <a:chOff x="0" y="0"/>
            <a:chExt cx="4116639" cy="3773957"/>
          </a:xfrm>
        </p:grpSpPr>
        <p:pic>
          <p:nvPicPr>
            <p:cNvPr id="276" name="picture 27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116639" cy="3773957"/>
            </a:xfrm>
            <a:prstGeom prst="rect">
              <a:avLst/>
            </a:prstGeom>
          </p:spPr>
        </p:pic>
        <p:sp>
          <p:nvSpPr>
            <p:cNvPr id="278" name="textbox 278"/>
            <p:cNvSpPr/>
            <p:nvPr/>
          </p:nvSpPr>
          <p:spPr>
            <a:xfrm>
              <a:off x="-12700" y="-12700"/>
              <a:ext cx="4142104" cy="38176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7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19785" indent="635" algn="l" rtl="0" eaLnBrk="0">
                <a:lnSpc>
                  <a:spcPct val="96000"/>
                </a:lnSpc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在这一步时，替代触发器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 </a:t>
              </a:r>
              <a:r>
                <a:rPr sz="1800" u="sng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不会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根据语句根据语句完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 </a:t>
              </a: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成对表中数据的插入、</a:t>
              </a: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删</a:t>
              </a:r>
              <a:endParaRPr sz="1800" dirty="0">
                <a:latin typeface="DengXian"/>
                <a:ea typeface="DengXian"/>
                <a:cs typeface="DengXian"/>
              </a:endParaRPr>
            </a:p>
            <a:p>
              <a:pPr marL="1050925" indent="-218440" algn="l" rtl="0" eaLnBrk="0">
                <a:lnSpc>
                  <a:spcPct val="93000"/>
                </a:lnSpc>
                <a:spcBef>
                  <a:spcPts val="302"/>
                </a:spcBef>
                <a:tabLst/>
              </a:pPr>
              <a:r>
                <a:rPr sz="18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除和更新，所以表中的数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              </a:t>
              </a:r>
              <a:r>
                <a:rPr sz="1800" kern="0" spc="-4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据状态没有改变的。</a:t>
              </a:r>
              <a:endParaRPr sz="18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80" name="textbox 280"/>
          <p:cNvSpPr/>
          <p:nvPr/>
        </p:nvSpPr>
        <p:spPr>
          <a:xfrm>
            <a:off x="2953530" y="440027"/>
            <a:ext cx="8611869" cy="699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4"/>
              </a:spcBef>
              <a:tabLst/>
            </a:pPr>
            <a:r>
              <a:rPr sz="4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DML替代触发器执行过程     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51620" y="452727"/>
            <a:ext cx="1484897" cy="397564"/>
          </a:xfrm>
          <a:prstGeom prst="rect">
            <a:avLst/>
          </a:prstGeom>
        </p:spPr>
      </p:pic>
      <p:graphicFrame>
        <p:nvGraphicFramePr>
          <p:cNvPr id="284" name="table 284"/>
          <p:cNvGraphicFramePr>
            <a:graphicFrameLocks noGrp="1"/>
          </p:cNvGraphicFramePr>
          <p:nvPr/>
        </p:nvGraphicFramePr>
        <p:xfrm>
          <a:off x="3015805" y="3860101"/>
          <a:ext cx="3822064" cy="1208404"/>
        </p:xfrm>
        <a:graphic>
          <a:graphicData uri="http://schemas.openxmlformats.org/drawingml/2006/table">
            <a:tbl>
              <a:tblPr/>
              <a:tblGrid>
                <a:gridCol w="3822064"/>
              </a:tblGrid>
              <a:tr h="1198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indent="63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3. 执行触发器创建时的SQL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语句，完成额外处理（如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   </a:t>
                      </a:r>
                      <a:r>
                        <a:rPr sz="2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约束检验）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86" name="table 286"/>
          <p:cNvGraphicFramePr>
            <a:graphicFrameLocks noGrp="1"/>
          </p:cNvGraphicFramePr>
          <p:nvPr/>
        </p:nvGraphicFramePr>
        <p:xfrm>
          <a:off x="3229165" y="5792533"/>
          <a:ext cx="3395344" cy="840105"/>
        </p:xfrm>
        <a:graphic>
          <a:graphicData uri="http://schemas.openxmlformats.org/drawingml/2006/table">
            <a:tbl>
              <a:tblPr/>
              <a:tblGrid>
                <a:gridCol w="3395344"/>
              </a:tblGrid>
              <a:tr h="830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indent="-17779" algn="l" rtl="0" eaLnBrk="0">
                        <a:lnSpc>
                          <a:spcPct val="9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4.</a:t>
                      </a:r>
                      <a:r>
                        <a:rPr sz="24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INSERT,</a:t>
                      </a:r>
                      <a:r>
                        <a:rPr sz="2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DELETE, 或者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UPDATE语句执行结束</a:t>
                      </a:r>
                      <a:endParaRPr sz="2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8" name="path 288"/>
          <p:cNvSpPr/>
          <p:nvPr/>
        </p:nvSpPr>
        <p:spPr>
          <a:xfrm>
            <a:off x="4997548" y="2618228"/>
            <a:ext cx="1847392" cy="1211179"/>
          </a:xfrm>
          <a:custGeom>
            <a:avLst/>
            <a:gdLst/>
            <a:ahLst/>
            <a:cxnLst/>
            <a:rect l="0" t="0" r="0" b="0"/>
            <a:pathLst>
              <a:path w="2909" h="1907">
                <a:moveTo>
                  <a:pt x="2893" y="25"/>
                </a:moveTo>
                <a:lnTo>
                  <a:pt x="16" y="1882"/>
                </a:lnTo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870699" y="5065014"/>
            <a:ext cx="114300" cy="731979"/>
            <a:chOff x="0" y="0"/>
            <a:chExt cx="114300" cy="731979"/>
          </a:xfrm>
        </p:grpSpPr>
        <p:sp>
          <p:nvSpPr>
            <p:cNvPr id="290" name="path 290"/>
            <p:cNvSpPr/>
            <p:nvPr/>
          </p:nvSpPr>
          <p:spPr>
            <a:xfrm>
              <a:off x="38105" y="0"/>
              <a:ext cx="38100" cy="636727"/>
            </a:xfrm>
            <a:custGeom>
              <a:avLst/>
              <a:gdLst/>
              <a:ahLst/>
              <a:cxnLst/>
              <a:rect l="0" t="0" r="0" b="0"/>
              <a:pathLst>
                <a:path w="60" h="1002">
                  <a:moveTo>
                    <a:pt x="30" y="0"/>
                  </a:moveTo>
                  <a:lnTo>
                    <a:pt x="30" y="1002"/>
                  </a:ln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2" name="path 292"/>
            <p:cNvSpPr/>
            <p:nvPr/>
          </p:nvSpPr>
          <p:spPr>
            <a:xfrm>
              <a:off x="0" y="617679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80" h="180">
                  <a:moveTo>
                    <a:pt x="0" y="0"/>
                  </a:moveTo>
                  <a:lnTo>
                    <a:pt x="90" y="180"/>
                  </a:lnTo>
                  <a:lnTo>
                    <a:pt x="1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94" name="textbox 294"/>
          <p:cNvSpPr/>
          <p:nvPr/>
        </p:nvSpPr>
        <p:spPr>
          <a:xfrm>
            <a:off x="4915149" y="3742350"/>
            <a:ext cx="153035" cy="13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▲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6" name="path 296"/>
          <p:cNvSpPr/>
          <p:nvPr/>
        </p:nvSpPr>
        <p:spPr>
          <a:xfrm>
            <a:off x="4812396" y="2160609"/>
            <a:ext cx="114808" cy="114300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1" y="0"/>
                </a:moveTo>
                <a:lnTo>
                  <a:pt x="180" y="91"/>
                </a:lnTo>
                <a:lnTo>
                  <a:pt x="0" y="180"/>
                </a:lnTo>
                <a:lnTo>
                  <a:pt x="1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2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77539" y="2453652"/>
            <a:ext cx="5716523" cy="3474707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2871266" y="1405645"/>
            <a:ext cx="6497954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INSERT替代触发器</a:t>
            </a:r>
            <a:r>
              <a:rPr sz="4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2" name="picture 3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79420" y="4291583"/>
            <a:ext cx="5565647" cy="1659623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65120" y="2494788"/>
            <a:ext cx="5818619" cy="1162811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2871266" y="1405645"/>
            <a:ext cx="6497954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INSERT替代触发器</a:t>
            </a:r>
            <a:r>
              <a:rPr sz="4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0" name="picture 3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312"/>
          <p:cNvSpPr/>
          <p:nvPr/>
        </p:nvSpPr>
        <p:spPr>
          <a:xfrm>
            <a:off x="935759" y="2459943"/>
            <a:ext cx="10203815" cy="3480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6695" indent="-213995" algn="l" rtl="0" eaLnBrk="0">
              <a:lnSpc>
                <a:spcPct val="99000"/>
              </a:lnSpc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如果一个触发器在执行操作时调用了另外一个触发器，而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这个触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10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发器可能又接着调用了下一个触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发器，这就是嵌套触发器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18"/>
              </a:spcBef>
              <a:tabLst/>
            </a:pP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触发器嵌套默认开启，但可以禁用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44475" indent="-23177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2014中触发器最多嵌套32层；如果嵌套的次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数超过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限制，那么该触发器将被终止，并回滚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整个事务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4696088" y="1405645"/>
            <a:ext cx="281114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嵌套触发器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6" name="picture 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box 318"/>
          <p:cNvSpPr/>
          <p:nvPr/>
        </p:nvSpPr>
        <p:spPr>
          <a:xfrm>
            <a:off x="935759" y="1405645"/>
            <a:ext cx="7232015" cy="142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72534" algn="l" rtl="0" eaLnBrk="0">
              <a:lnSpc>
                <a:spcPct val="91000"/>
              </a:lnSpc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嵌套触发器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7"/>
              </a:spcBef>
              <a:tabLst/>
            </a:pPr>
            <a:r>
              <a:rPr sz="27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</a:t>
            </a:r>
            <a:r>
              <a:rPr sz="2700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2014中禁用和启用</a:t>
            </a:r>
            <a:r>
              <a:rPr sz="27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嵌套触发器：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1390294" y="3201902"/>
            <a:ext cx="7073900" cy="1203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098"/>
              </a:lnSpc>
              <a:tabLst/>
            </a:pP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禁用：</a:t>
            </a:r>
            <a:r>
              <a:rPr sz="2400" kern="0" spc="-4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EXEC sp_configure ‘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nested triggers’, 0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098"/>
              </a:lnSpc>
              <a:spcBef>
                <a:spcPts val="3"/>
              </a:spcBef>
              <a:tabLst/>
            </a:pP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3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启用：</a:t>
            </a:r>
            <a:r>
              <a:rPr sz="2400" kern="0" spc="-4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EXEC sp_configure ‘nested trigger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s’,</a:t>
            </a:r>
            <a:r>
              <a:rPr sz="2400" kern="0" spc="2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324"/>
          <p:cNvSpPr/>
          <p:nvPr/>
        </p:nvSpPr>
        <p:spPr>
          <a:xfrm>
            <a:off x="935759" y="2417271"/>
            <a:ext cx="9533255" cy="2456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4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触发器的递归是指一个触发器从其内部再一次激活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该触发器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819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2014中递归触发器默认是禁用的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递归触发器最多只能递归16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层；超过限制后会回滚整个事务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4693851" y="1405645"/>
            <a:ext cx="281305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递归触发器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330"/>
          <p:cNvSpPr/>
          <p:nvPr/>
        </p:nvSpPr>
        <p:spPr>
          <a:xfrm>
            <a:off x="935759" y="2372113"/>
            <a:ext cx="10184130" cy="3474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6695" indent="-213995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顾名思义，该类触发器当用户对数据库对象创建、修改和</a:t>
            </a:r>
            <a:r>
              <a:rPr sz="27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删除时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759"/>
              </a:spcBef>
              <a:tabLst/>
            </a:pPr>
            <a:r>
              <a:rPr sz="2500" kern="0" spc="-1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500" kern="0" spc="1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500" kern="0" spc="-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语法：</a:t>
            </a:r>
            <a:endParaRPr sz="2500" dirty="0">
              <a:latin typeface="Microsoft YaHei"/>
              <a:ea typeface="Microsoft YaHei"/>
              <a:cs typeface="Microsoft YaHei"/>
            </a:endParaRPr>
          </a:p>
          <a:p>
            <a:pPr marL="462915" algn="l" rtl="0" eaLnBrk="0">
              <a:lnSpc>
                <a:spcPts val="3167"/>
              </a:lnSpc>
              <a:tabLst/>
            </a:pP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 TRIGGER trigger_nam</a:t>
            </a: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2915" algn="l" rtl="0" eaLnBrk="0">
              <a:lnSpc>
                <a:spcPct val="90000"/>
              </a:lnSpc>
              <a:spcBef>
                <a:spcPts val="172"/>
              </a:spcBef>
              <a:tabLst/>
            </a:pP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 {ALL SERVER</a:t>
            </a:r>
            <a:r>
              <a:rPr sz="2400" b="1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400" b="1" kern="0" spc="2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</a:t>
            </a:r>
            <a:r>
              <a:rPr sz="2400" b="1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ABASE}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77519" algn="l" rtl="0" eaLnBrk="0">
              <a:lnSpc>
                <a:spcPct val="89000"/>
              </a:lnSpc>
              <a:spcBef>
                <a:spcPts val="225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FOR {event_type}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52755" algn="l" rtl="0" eaLnBrk="0">
              <a:lnSpc>
                <a:spcPct val="84000"/>
              </a:lnSpc>
              <a:spcBef>
                <a:spcPts val="386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AS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6090" algn="l" rtl="0" eaLnBrk="0">
              <a:lnSpc>
                <a:spcPct val="84000"/>
              </a:lnSpc>
              <a:spcBef>
                <a:spcPts val="378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SQL_statement</a:t>
            </a:r>
            <a:endParaRPr sz="2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4697018" y="1405645"/>
            <a:ext cx="284543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336"/>
          <p:cNvSpPr/>
          <p:nvPr/>
        </p:nvSpPr>
        <p:spPr>
          <a:xfrm>
            <a:off x="934467" y="1749103"/>
            <a:ext cx="10315575" cy="4384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400" kern="0" spc="-1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400" kern="0" spc="2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1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语法：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2915" algn="l" rtl="0" eaLnBrk="0">
              <a:lnSpc>
                <a:spcPts val="2898"/>
              </a:lnSpc>
              <a:tabLst/>
            </a:pPr>
            <a:r>
              <a:rPr sz="21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 TRIGGER trigger_na</a:t>
            </a:r>
            <a:r>
              <a:rPr sz="21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462915" algn="l" rtl="0" eaLnBrk="0">
              <a:lnSpc>
                <a:spcPct val="97000"/>
              </a:lnSpc>
              <a:spcBef>
                <a:spcPts val="143"/>
              </a:spcBef>
              <a:tabLst/>
            </a:pP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</a:t>
            </a:r>
            <a:r>
              <a:rPr sz="2100" b="1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{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ALL</a:t>
            </a:r>
            <a:r>
              <a:rPr sz="2100" b="1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</a:t>
            </a:r>
            <a:r>
              <a:rPr sz="2100" b="1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1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DATABASE</a:t>
            </a:r>
            <a:r>
              <a:rPr sz="2100" b="1" kern="0" spc="1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}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476250" algn="l" rtl="0" eaLnBrk="0">
              <a:lnSpc>
                <a:spcPct val="96000"/>
              </a:lnSpc>
              <a:spcBef>
                <a:spcPts val="168"/>
              </a:spcBef>
              <a:tabLst/>
            </a:pP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FOR</a:t>
            </a:r>
            <a:r>
              <a:rPr sz="2100" b="1" kern="0" spc="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{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event</a:t>
            </a:r>
            <a:r>
              <a:rPr sz="2100" b="1" kern="0" spc="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type</a:t>
            </a:r>
            <a:r>
              <a:rPr sz="2100" b="1" kern="0" spc="1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}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454025" algn="l" rtl="0" eaLnBrk="0">
              <a:lnSpc>
                <a:spcPct val="87000"/>
              </a:lnSpc>
              <a:spcBef>
                <a:spcPts val="396"/>
              </a:spcBef>
              <a:tabLst/>
            </a:pPr>
            <a:r>
              <a:rPr sz="21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AS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466090" algn="l" rtl="0" eaLnBrk="0">
              <a:lnSpc>
                <a:spcPct val="88000"/>
              </a:lnSpc>
              <a:spcBef>
                <a:spcPts val="423"/>
              </a:spcBef>
              <a:tabLst/>
            </a:pPr>
            <a:r>
              <a:rPr sz="21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SQL_statement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6725" algn="l" rtl="0" eaLnBrk="0">
              <a:lnSpc>
                <a:spcPct val="95000"/>
              </a:lnSpc>
              <a:spcBef>
                <a:spcPts val="631"/>
              </a:spcBef>
              <a:tabLst/>
            </a:pPr>
            <a:r>
              <a:rPr sz="2100" kern="0" spc="1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4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ALL</a:t>
            </a:r>
            <a:r>
              <a:rPr sz="2100" b="1" kern="0" spc="1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SERVER</a:t>
            </a:r>
            <a:r>
              <a:rPr sz="2100" kern="0" spc="1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表示该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</a:t>
            </a:r>
            <a:r>
              <a:rPr sz="2100" kern="0" spc="1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触发器作用于</a:t>
            </a:r>
            <a:r>
              <a:rPr sz="2100" kern="0" spc="1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整个服务器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466725" algn="l" rtl="0" eaLnBrk="0">
              <a:lnSpc>
                <a:spcPct val="95000"/>
              </a:lnSpc>
              <a:spcBef>
                <a:spcPts val="1015"/>
              </a:spcBef>
              <a:tabLst/>
            </a:pP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DATABASE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表示该</a:t>
            </a:r>
            <a:r>
              <a:rPr sz="21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</a:t>
            </a:r>
            <a:r>
              <a:rPr sz="21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触发器只作用</a:t>
            </a:r>
            <a:r>
              <a:rPr sz="2100" kern="0" spc="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于当前数据库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marL="681990" indent="-215265" algn="l" rtl="0" eaLnBrk="0">
              <a:lnSpc>
                <a:spcPct val="105000"/>
              </a:lnSpc>
              <a:spcBef>
                <a:spcPts val="1031"/>
              </a:spcBef>
              <a:tabLst/>
            </a:pPr>
            <a:r>
              <a:rPr sz="2100" kern="0" spc="1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100" kern="0" spc="5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event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type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sz="2100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DATABASE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ALTER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DATABASE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TABLE</a:t>
            </a:r>
            <a:r>
              <a:rPr sz="2100" b="1" kern="0" spc="1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ALTER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TABLE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</a:t>
            </a:r>
            <a:r>
              <a:rPr sz="21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DROP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TABLE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;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VIEW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ALTER</a:t>
            </a:r>
            <a:r>
              <a:rPr sz="2100" b="1" kern="0" spc="1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1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VIEW</a:t>
            </a:r>
            <a:r>
              <a:rPr sz="2100" b="1" kern="0" spc="1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,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705484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1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DROP_VIEW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4697018" y="776059"/>
            <a:ext cx="284543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12747" y="2388108"/>
            <a:ext cx="4413503" cy="3349751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07123" y="3957828"/>
            <a:ext cx="4768594" cy="989075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70547" y="2388108"/>
            <a:ext cx="3557015" cy="879346"/>
          </a:xfrm>
          <a:prstGeom prst="rect">
            <a:avLst/>
          </a:prstGeom>
        </p:spPr>
      </p:pic>
      <p:sp>
        <p:nvSpPr>
          <p:cNvPr id="348" name="textbox 348"/>
          <p:cNvSpPr/>
          <p:nvPr/>
        </p:nvSpPr>
        <p:spPr>
          <a:xfrm>
            <a:off x="3858818" y="1405645"/>
            <a:ext cx="4523104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DDL触发器：示例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0" name="picture 3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18260" y="2424684"/>
            <a:ext cx="5294375" cy="3371087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4659" y="3741420"/>
            <a:ext cx="5094731" cy="1033272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62571" y="2424684"/>
            <a:ext cx="3637787" cy="873251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3858818" y="1405645"/>
            <a:ext cx="4523104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DDL触发器：示例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0" name="picture 3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picture 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59764" y="2508504"/>
            <a:ext cx="4971275" cy="1118603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99175" y="2532888"/>
            <a:ext cx="5210543" cy="3086099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4692732" y="1405645"/>
            <a:ext cx="281432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查看触发器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8" name="picture 3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box 370"/>
          <p:cNvSpPr/>
          <p:nvPr/>
        </p:nvSpPr>
        <p:spPr>
          <a:xfrm>
            <a:off x="935759" y="2390525"/>
            <a:ext cx="10165715" cy="3671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2755" algn="l" rtl="0" eaLnBrk="0">
              <a:lnSpc>
                <a:spcPts val="3167"/>
              </a:lnSpc>
              <a:tabLst/>
            </a:pPr>
            <a:r>
              <a:rPr sz="2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ALTER TRIGGER trigger_name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2915" algn="l" rtl="0" eaLnBrk="0">
              <a:lnSpc>
                <a:spcPts val="3383"/>
              </a:lnSpc>
              <a:tabLst/>
            </a:pP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 {table</a:t>
            </a:r>
            <a:r>
              <a:rPr sz="2400" b="1" kern="0" spc="2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400" b="1" kern="0" spc="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view}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7359" algn="l" rtl="0" eaLnBrk="0">
              <a:lnSpc>
                <a:spcPts val="3167"/>
              </a:lnSpc>
              <a:spcBef>
                <a:spcPts val="216"/>
              </a:spcBef>
              <a:tabLst/>
            </a:pP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{AFTER</a:t>
            </a:r>
            <a:r>
              <a:rPr sz="24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|</a:t>
            </a:r>
            <a:r>
              <a:rPr sz="2400" b="1" kern="0" spc="2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INSTEAD OF} {DELETE,</a:t>
            </a:r>
            <a:r>
              <a:rPr sz="24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UPDATE,</a:t>
            </a:r>
            <a:r>
              <a:rPr sz="2400" b="1" kern="0" spc="2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</a:t>
            </a:r>
            <a:r>
              <a:rPr sz="2400" b="1" kern="0" spc="-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RT}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52755" algn="l" rtl="0" eaLnBrk="0">
              <a:lnSpc>
                <a:spcPts val="3316"/>
              </a:lnSpc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AS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466090" algn="l" rtl="0" eaLnBrk="0">
              <a:lnSpc>
                <a:spcPct val="84000"/>
              </a:lnSpc>
              <a:spcBef>
                <a:spcPts val="966"/>
              </a:spcBef>
              <a:tabLst/>
            </a:pPr>
            <a:r>
              <a:rPr sz="2400" b="1" kern="0" spc="-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SQL_statement</a:t>
            </a:r>
            <a:endParaRPr sz="2400" dirty="0">
              <a:latin typeface="Microsoft YaHei"/>
              <a:ea typeface="Microsoft YaHei"/>
              <a:cs typeface="Microsoft YaHei"/>
            </a:endParaRPr>
          </a:p>
          <a:p>
            <a:pPr marL="226695" indent="-214629" algn="l" rtl="0" eaLnBrk="0">
              <a:lnSpc>
                <a:spcPct val="99000"/>
              </a:lnSpc>
              <a:spcBef>
                <a:spcPts val="1290"/>
              </a:spcBef>
              <a:tabLst/>
            </a:pP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28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除了关键字由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CREATE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换成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ALTER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之外，修改触发器的语句和创</a:t>
            </a:r>
            <a:r>
              <a:rPr sz="2700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建触发器的语句格式完全一样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2700" kern="0" spc="6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6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旧的定义会被新的</a:t>
            </a:r>
            <a:r>
              <a:rPr sz="2700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定义覆盖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2" name="textbox 372"/>
          <p:cNvSpPr/>
          <p:nvPr/>
        </p:nvSpPr>
        <p:spPr>
          <a:xfrm>
            <a:off x="4691055" y="1405645"/>
            <a:ext cx="2816225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修改触发器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376"/>
          <p:cNvSpPr/>
          <p:nvPr/>
        </p:nvSpPr>
        <p:spPr>
          <a:xfrm>
            <a:off x="922896" y="2343411"/>
            <a:ext cx="9890759" cy="3042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3690"/>
              </a:lnSpc>
              <a:tabLst/>
            </a:pPr>
            <a:r>
              <a:rPr sz="2700" kern="0" spc="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9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DROP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TRIGGER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trigger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name</a:t>
            </a:r>
            <a:r>
              <a:rPr sz="2700" b="1" kern="0" spc="3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[,</a:t>
            </a:r>
            <a:r>
              <a:rPr sz="2700" b="1" kern="0" spc="22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2700" b="1" kern="0" spc="2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n]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234315" algn="l" rtl="0" eaLnBrk="0">
              <a:lnSpc>
                <a:spcPts val="4031"/>
              </a:lnSpc>
              <a:tabLst/>
            </a:pP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</a:t>
            </a:r>
            <a:r>
              <a:rPr sz="2700" b="1" kern="0" spc="1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{对象名}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813"/>
              </a:spcBef>
              <a:tabLst/>
            </a:pPr>
            <a:r>
              <a:rPr sz="27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25400" algn="l" rtl="0" eaLnBrk="0">
              <a:lnSpc>
                <a:spcPts val="3690"/>
              </a:lnSpc>
              <a:spcBef>
                <a:spcPts val="415"/>
              </a:spcBef>
              <a:tabLst/>
            </a:pPr>
            <a:r>
              <a:rPr sz="2700" kern="0" spc="2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3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DROP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TRIGGER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insert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student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my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first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db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90000"/>
              </a:lnSpc>
              <a:spcBef>
                <a:spcPts val="6"/>
              </a:spcBef>
              <a:tabLst/>
            </a:pPr>
            <a:r>
              <a:rPr sz="2700" kern="0" spc="5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DROP TRIGGER</a:t>
            </a:r>
            <a:r>
              <a:rPr sz="2700" b="1" kern="0" spc="2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</a:t>
            </a:r>
            <a:r>
              <a:rPr sz="27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enyCreate_AllServer ON ALL SERVER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8" name="textbox 378"/>
          <p:cNvSpPr/>
          <p:nvPr/>
        </p:nvSpPr>
        <p:spPr>
          <a:xfrm>
            <a:off x="4692732" y="1405645"/>
            <a:ext cx="2814320" cy="635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删除触发器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box 382"/>
          <p:cNvSpPr/>
          <p:nvPr/>
        </p:nvSpPr>
        <p:spPr>
          <a:xfrm>
            <a:off x="935759" y="1405645"/>
            <a:ext cx="7409815" cy="1944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4400" b="1" kern="0" spc="-1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启用和禁用触发器</a:t>
            </a:r>
            <a:endParaRPr sz="4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90"/>
              </a:lnSpc>
              <a:spcBef>
                <a:spcPts val="813"/>
              </a:spcBef>
              <a:tabLst/>
            </a:pPr>
            <a:r>
              <a:rPr sz="2700" kern="0" spc="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1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4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DISABLE TRIGGER trigger_na</a:t>
            </a:r>
            <a:r>
              <a:rPr sz="2700" b="1" kern="0" spc="3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220979" algn="l" rtl="0" eaLnBrk="0">
              <a:lnSpc>
                <a:spcPts val="4031"/>
              </a:lnSpc>
              <a:tabLst/>
            </a:pP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</a:t>
            </a:r>
            <a:r>
              <a:rPr sz="2700" b="1" kern="0" spc="1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{对象名}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935759" y="4388619"/>
            <a:ext cx="5828029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0345" indent="-208279" algn="l" rtl="0" eaLnBrk="0">
              <a:lnSpc>
                <a:spcPct val="122000"/>
              </a:lnSpc>
              <a:tabLst/>
            </a:pPr>
            <a:r>
              <a:rPr sz="2700" kern="0" spc="27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2700" kern="0" spc="340" dirty="0">
                <a:solidFill>
                  <a:srgbClr val="004EA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ENABLE</a:t>
            </a:r>
            <a:r>
              <a:rPr sz="2700" b="1" kern="0" spc="2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TRIGGER</a:t>
            </a:r>
            <a:r>
              <a:rPr sz="2700" b="1" kern="0" spc="2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trigger</a:t>
            </a:r>
            <a:r>
              <a:rPr sz="2700" b="1" kern="0" spc="2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name </a:t>
            </a:r>
            <a:r>
              <a:rPr sz="2700" b="1" kern="0" spc="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</a:t>
            </a:r>
            <a:r>
              <a:rPr sz="2700" b="1" kern="0" spc="18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5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{对象名}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6" name="picture 3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67282" y="452727"/>
            <a:ext cx="1484897" cy="39756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picture 3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71272"/>
            <a:ext cx="12192000" cy="6586727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5153654" y="2438829"/>
            <a:ext cx="2157729" cy="1591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97000"/>
              </a:lnSpc>
              <a:tabLst/>
            </a:pPr>
            <a:r>
              <a:rPr sz="4100" b="1" kern="0" spc="-3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sz="4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4200" b="1" kern="0" spc="-370" dirty="0">
                <a:solidFill>
                  <a:srgbClr val="004E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下次见！</a:t>
            </a:r>
            <a:endParaRPr sz="4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Acrobat PDFMaker 25 PowerPoint 版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zlxu</dc:creator>
  <dcterms:created xsi:type="dcterms:W3CDTF">2025-11-20T20:26:49Z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2025-11-26T10:08:51</vt:filetime>
  </property>
</Properties>
</file>