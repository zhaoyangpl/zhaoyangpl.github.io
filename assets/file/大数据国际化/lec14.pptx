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2"/>
  </p:handoutMasterIdLst>
  <p:sldIdLst>
    <p:sldId id="256" r:id="rId2"/>
    <p:sldId id="257" r:id="rId3"/>
    <p:sldId id="276" r:id="rId4"/>
    <p:sldId id="258" r:id="rId5"/>
    <p:sldId id="268" r:id="rId6"/>
    <p:sldId id="261" r:id="rId7"/>
    <p:sldId id="262" r:id="rId8"/>
    <p:sldId id="266" r:id="rId9"/>
    <p:sldId id="263" r:id="rId10"/>
    <p:sldId id="264" r:id="rId11"/>
    <p:sldId id="265" r:id="rId12"/>
    <p:sldId id="277" r:id="rId13"/>
    <p:sldId id="267" r:id="rId14"/>
    <p:sldId id="269" r:id="rId15"/>
    <p:sldId id="275" r:id="rId16"/>
    <p:sldId id="271" r:id="rId17"/>
    <p:sldId id="281" r:id="rId18"/>
    <p:sldId id="282" r:id="rId19"/>
    <p:sldId id="283" r:id="rId20"/>
    <p:sldId id="284" r:id="rId21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10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6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E9D90-5BA9-4EC8-852D-6ACB63BAAEAA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136AE-B1CB-4314-9925-38BFDB48B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082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20570-1BAA-430A-A521-5DB3E5D7F88F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1970-431E-4A2D-9C06-342D00DA8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2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20570-1BAA-430A-A521-5DB3E5D7F88F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1970-431E-4A2D-9C06-342D00DA8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01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20570-1BAA-430A-A521-5DB3E5D7F88F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1970-431E-4A2D-9C06-342D00DA8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5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20570-1BAA-430A-A521-5DB3E5D7F88F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1970-431E-4A2D-9C06-342D00DA8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7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20570-1BAA-430A-A521-5DB3E5D7F88F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1970-431E-4A2D-9C06-342D00DA8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3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20570-1BAA-430A-A521-5DB3E5D7F88F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1970-431E-4A2D-9C06-342D00DA8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59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20570-1BAA-430A-A521-5DB3E5D7F88F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1970-431E-4A2D-9C06-342D00DA8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8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20570-1BAA-430A-A521-5DB3E5D7F88F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1970-431E-4A2D-9C06-342D00DA8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65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20570-1BAA-430A-A521-5DB3E5D7F88F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1970-431E-4A2D-9C06-342D00DA8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2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20570-1BAA-430A-A521-5DB3E5D7F88F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1970-431E-4A2D-9C06-342D00DA8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44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20570-1BAA-430A-A521-5DB3E5D7F88F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11970-431E-4A2D-9C06-342D00DA8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0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20570-1BAA-430A-A521-5DB3E5D7F88F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11970-431E-4A2D-9C06-342D00DA8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2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727960" y="1372696"/>
            <a:ext cx="6891528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70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Linear </a:t>
            </a:r>
            <a:r>
              <a:rPr lang="en-US" sz="67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Programming II</a:t>
            </a:r>
            <a:br>
              <a:rPr lang="en-US" sz="60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</a:br>
            <a:br>
              <a:rPr lang="en-US" sz="60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</a:br>
            <a:r>
              <a:rPr lang="en-US" sz="36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David Woodruff</a:t>
            </a:r>
            <a:br>
              <a:rPr lang="en-US" sz="36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879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linear programming example – l1 regression</a:t>
            </a:r>
          </a:p>
          <a:p>
            <a:endParaRPr lang="en-US" dirty="0"/>
          </a:p>
          <a:p>
            <a:r>
              <a:rPr lang="en-US" dirty="0"/>
              <a:t>Seidel’s 2-dimensional linear programming algorithm</a:t>
            </a:r>
          </a:p>
          <a:p>
            <a:endParaRPr lang="en-US" dirty="0"/>
          </a:p>
          <a:p>
            <a:r>
              <a:rPr lang="en-US" dirty="0"/>
              <a:t>Ellipsoid algorithm, and continued discussion of simplex algorithm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11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L1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42266" cy="465468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Input: n x d matrix A with n larger than d, and n x 1 vector b</a:t>
                </a:r>
              </a:p>
              <a:p>
                <a:r>
                  <a:rPr lang="en-US" dirty="0"/>
                  <a:t>Find x with Ax = b</a:t>
                </a:r>
              </a:p>
              <a:p>
                <a:r>
                  <a:rPr lang="en-US" dirty="0"/>
                  <a:t>Unlikely an x exists, so instead compute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=1, …,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  <m:sup/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nary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Solve with linear programming? How to handle the absolute values?</a:t>
                </a:r>
              </a:p>
              <a:p>
                <a:r>
                  <a:rPr lang="en-US" dirty="0"/>
                  <a:t>Create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:r>
                  <a:rPr lang="en-US" dirty="0" err="1"/>
                  <a:t>i</a:t>
                </a:r>
                <a:r>
                  <a:rPr lang="en-US" dirty="0"/>
                  <a:t> = 1, …, n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Also have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b="0" dirty="0"/>
                  <a:t>Add constraints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 and –(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 for i = 1, …, n</a:t>
                </a:r>
              </a:p>
              <a:p>
                <a:r>
                  <a:rPr lang="en-US" dirty="0"/>
                  <a:t>What should the objective function be?</a:t>
                </a:r>
              </a:p>
              <a:p>
                <a:r>
                  <a:rPr lang="en-US" dirty="0"/>
                  <a:t>min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=1, …,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42266" cy="4654688"/>
              </a:xfrm>
              <a:blipFill>
                <a:blip r:embed="rId2"/>
                <a:stretch>
                  <a:fillRect l="-1012" t="-2094" b="-1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907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Seidel’s 2-Dimensional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1041"/>
                <a:ext cx="10515600" cy="33506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Constraints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Maximize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Start by making sure the</a:t>
                </a:r>
              </a:p>
              <a:p>
                <a:pPr marL="0" indent="0">
                  <a:buNone/>
                </a:pPr>
                <a:r>
                  <a:rPr lang="en-US" dirty="0"/>
                  <a:t>   program has bounded objective</a:t>
                </a:r>
              </a:p>
              <a:p>
                <a:pPr marL="0" indent="0">
                  <a:buNone/>
                </a:pPr>
                <a:r>
                  <a:rPr lang="en-US" dirty="0"/>
                  <a:t>   function value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1041"/>
                <a:ext cx="10515600" cy="3350674"/>
              </a:xfrm>
              <a:blipFill>
                <a:blip r:embed="rId2"/>
                <a:stretch>
                  <a:fillRect l="-1043" t="-2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652" y="3121569"/>
            <a:ext cx="5549348" cy="358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332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What if the LP is unbounded?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82993" cy="489280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Add constraints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2400" dirty="0"/>
                  <a:t> for a large value 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How large should M be?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 Maximum, if it were bounded, occurs at the intersection of two constraints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b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f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sz="2400" dirty="0"/>
              </a:p>
              <a:p>
                <a:pPr marL="457200" lvl="1" indent="0">
                  <a:buNone/>
                </a:pPr>
                <a:r>
                  <a:rPr lang="en-US" sz="2000" dirty="0"/>
                  <a:t>a b 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   =   c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e f  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        d</a:t>
                </a:r>
              </a:p>
              <a:p>
                <a:pPr marL="457200" lvl="1" indent="0">
                  <a:buNone/>
                </a:pPr>
                <a:endParaRPr lang="en-US" sz="2000" b="0" dirty="0"/>
              </a:p>
              <a:p>
                <a:r>
                  <a:rPr lang="en-US" sz="2400" dirty="0"/>
                  <a:t>If a, b, e, f, c, d are specified with L bits, can show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|,|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b="0" dirty="0"/>
                  <a:t>| </a:t>
                </a:r>
                <a:r>
                  <a:rPr lang="en-US" sz="2400" dirty="0"/>
                  <a:t>specified with O(L) bits</a:t>
                </a:r>
                <a:endParaRPr lang="en-US" sz="2400" b="0" dirty="0"/>
              </a:p>
              <a:p>
                <a:r>
                  <a:rPr lang="en-US" sz="2400" dirty="0"/>
                  <a:t>Can evaluate the objective function on each of the 4 corners of the box to find two constraints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which give the maximum</a:t>
                </a:r>
              </a:p>
              <a:p>
                <a:endParaRPr lang="en-US" sz="2400" b="0" dirty="0"/>
              </a:p>
              <a:p>
                <a:endParaRPr lang="en-US" sz="2400" dirty="0"/>
              </a:p>
              <a:p>
                <a:endParaRPr lang="en-US" sz="2400" b="0" dirty="0"/>
              </a:p>
              <a:p>
                <a:endParaRPr lang="en-US" sz="2400" b="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82993" cy="4892809"/>
              </a:xfrm>
              <a:blipFill>
                <a:blip r:embed="rId2"/>
                <a:stretch>
                  <a:fillRect l="-735" t="-1743" b="-1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1542763" y="4242405"/>
            <a:ext cx="1116086" cy="1015663"/>
            <a:chOff x="1542763" y="4242405"/>
            <a:chExt cx="1116086" cy="1015663"/>
          </a:xfrm>
        </p:grpSpPr>
        <p:sp>
          <p:nvSpPr>
            <p:cNvPr id="5" name="TextBox 4"/>
            <p:cNvSpPr txBox="1"/>
            <p:nvPr/>
          </p:nvSpPr>
          <p:spPr>
            <a:xfrm rot="10800000">
              <a:off x="1542763" y="4242405"/>
              <a:ext cx="59503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 [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 rot="10800000">
              <a:off x="2063814" y="4242405"/>
              <a:ext cx="59503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 [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129421" y="4152547"/>
            <a:ext cx="2195255" cy="1105521"/>
            <a:chOff x="1065476" y="4152547"/>
            <a:chExt cx="2195255" cy="1105521"/>
          </a:xfrm>
        </p:grpSpPr>
        <p:sp>
          <p:nvSpPr>
            <p:cNvPr id="4" name="TextBox 3"/>
            <p:cNvSpPr txBox="1"/>
            <p:nvPr/>
          </p:nvSpPr>
          <p:spPr>
            <a:xfrm>
              <a:off x="1065476" y="4152548"/>
              <a:ext cx="42030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[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85784" y="4152548"/>
              <a:ext cx="59503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 [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 rot="10800000">
              <a:off x="2665696" y="4242405"/>
              <a:ext cx="59503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 [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33085" y="4152547"/>
              <a:ext cx="59503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 [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014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What Convexity Tells 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3897"/>
              </a:xfrm>
            </p:spPr>
            <p:txBody>
              <a:bodyPr/>
              <a:lstStyle/>
              <a:p>
                <a:r>
                  <a:rPr lang="en-US" dirty="0"/>
                  <a:t>Maximizing a linear function over the feasible</a:t>
                </a:r>
              </a:p>
              <a:p>
                <a:pPr marL="0" indent="0">
                  <a:buNone/>
                </a:pPr>
                <a:r>
                  <a:rPr lang="en-US" dirty="0"/>
                  <a:t>   region finds a tangent point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What’s a super naïve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time algorithm?</a:t>
                </a: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Find the intersection of each pair of constraints, compute its objective function value, and make sure this point is feasible for all constraints</a:t>
                </a:r>
              </a:p>
              <a:p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What’s a less naïve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time algorithm?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3897"/>
              </a:xfrm>
              <a:blipFill>
                <a:blip r:embed="rId2"/>
                <a:stretch>
                  <a:fillRect l="-1043" t="-2038" r="-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531" y="496956"/>
            <a:ext cx="3611988" cy="339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5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2060"/>
                    </a:solidFill>
                  </a:rPr>
                  <a:t>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Time Algorithm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0051" y="1690688"/>
                <a:ext cx="11534774" cy="4351338"/>
              </a:xfrm>
            </p:spPr>
            <p:txBody>
              <a:bodyPr/>
              <a:lstStyle/>
              <a:p>
                <a:r>
                  <a:rPr lang="en-US" dirty="0"/>
                  <a:t>Order the constraints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Recursively find optimum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overall optimum</a:t>
                </a:r>
              </a:p>
              <a:p>
                <a:r>
                  <a:rPr lang="en-US" dirty="0"/>
                  <a:t>Otherwise,  new optimum intersects the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Need to solve a 1-dimensional problem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51" y="1690688"/>
                <a:ext cx="11534774" cy="4351338"/>
              </a:xfrm>
              <a:blipFill>
                <a:blip r:embed="rId3"/>
                <a:stretch>
                  <a:fillRect l="-95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095" y="4114701"/>
            <a:ext cx="4256018" cy="24205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320" y="4294947"/>
            <a:ext cx="4298043" cy="256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0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1-Dimensional Problem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772" y="393797"/>
            <a:ext cx="4932205" cy="42136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123" y="1400272"/>
            <a:ext cx="5145472" cy="292637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77394" y="5111953"/>
            <a:ext cx="9762096" cy="1512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Takes O(m) time to solve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Note: new optimum might not be determined by one of the two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002060"/>
                </a:solidFill>
              </a:rPr>
              <a:t>   constraints determining the old optimum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95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2060"/>
                    </a:solidFill>
                  </a:rPr>
                  <a:t>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Time Algorithm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6019" y="1690688"/>
                <a:ext cx="11490462" cy="49561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Recursively find optimum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still optimal</a:t>
                </a:r>
              </a:p>
              <a:p>
                <a:endParaRPr lang="en-US" dirty="0"/>
              </a:p>
              <a:p>
                <a:r>
                  <a:rPr lang="en-US" dirty="0"/>
                  <a:t>Otherwise,  new optimum intersects the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Solve a 1-dimensional problem in O(m) time</a:t>
                </a:r>
              </a:p>
              <a:p>
                <a:endParaRPr lang="en-US" dirty="0"/>
              </a:p>
              <a:p>
                <a:r>
                  <a:rPr lang="en-US" dirty="0"/>
                  <a:t>T(m) = T(m-1) + O(m)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time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Can we get O(m) time?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6019" y="1690688"/>
                <a:ext cx="11490462" cy="4956175"/>
              </a:xfrm>
              <a:blipFill>
                <a:blip r:embed="rId3"/>
                <a:stretch>
                  <a:fillRect l="-796" t="-2460" b="-1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66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Seidel’s O(m) Time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4284" y="1796566"/>
                <a:ext cx="11524836" cy="474215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rder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constraints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randomly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at the end</a:t>
                </a:r>
              </a:p>
              <a:p>
                <a:endParaRPr lang="en-US" dirty="0"/>
              </a:p>
              <a:p>
                <a:r>
                  <a:rPr lang="en-US" dirty="0"/>
                  <a:t>Recursively find the optimum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 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Case 1: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overall optimum</a:t>
                </a:r>
              </a:p>
              <a:p>
                <a:pPr lvl="1"/>
                <a:r>
                  <a:rPr lang="en-US" dirty="0"/>
                  <a:t>O(1) time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Case 2: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, then we need to intersect the line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with</a:t>
                </a:r>
              </a:p>
              <a:p>
                <a:pPr marL="0" indent="0">
                  <a:buNone/>
                </a:pPr>
                <a:r>
                  <a:rPr lang="en-US" dirty="0"/>
                  <a:t>   each other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and solve a 1-dimensional problem in O(m) time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4284" y="1796566"/>
                <a:ext cx="11524836" cy="4742152"/>
              </a:xfrm>
              <a:blipFill>
                <a:blip r:embed="rId2"/>
                <a:stretch>
                  <a:fillRect l="-952" t="-2699" r="-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9525000" y="4829176"/>
            <a:ext cx="257175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2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Backwards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9588" y="1920875"/>
                <a:ext cx="11682412" cy="478948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be the optimum point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 What is the chance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 Suppose the optimum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intersection of two constraints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If we’ve seen these two constraints, then new constraint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/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can’t change the optimum. Otherwise, overall optimum would change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r>
                  <a:rPr lang="en-US" dirty="0"/>
                  <a:t>Expected time for processing the last constraint is at most </a:t>
                </a:r>
              </a:p>
              <a:p>
                <a:pPr marL="0" indent="0" algn="ctr">
                  <a:buNone/>
                </a:pPr>
                <a:r>
                  <a:rPr lang="en-US" dirty="0"/>
                  <a:t>(1-2/m)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O(1) + (2/m)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O(m) = O(1)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588" y="1920875"/>
                <a:ext cx="11682412" cy="4789488"/>
              </a:xfrm>
              <a:blipFill>
                <a:blip r:embed="rId2"/>
                <a:stretch>
                  <a:fillRect l="-939" t="-2545" b="-2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38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Backwards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96556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We process the randomly ordered constraints in reverse order: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When processing the last constraint of: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the expected amount of time is </a:t>
                </a:r>
              </a:p>
              <a:p>
                <a:pPr marL="0" indent="0">
                  <a:buNone/>
                </a:pPr>
                <a:r>
                  <a:rPr lang="en-US" dirty="0"/>
                  <a:t>	(1-2/(m-j+1))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O(1) + (2/(m-j+1))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O(m-j+1) = O(1)</a:t>
                </a:r>
              </a:p>
              <a:p>
                <a:r>
                  <a:rPr lang="en-US" dirty="0"/>
                  <a:t>The expected total time to process m constraints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, as desired!</a:t>
                </a:r>
              </a:p>
              <a:p>
                <a:r>
                  <a:rPr lang="en-US" dirty="0"/>
                  <a:t>Formally, let T(m) be the expected time to process all m constraints</a:t>
                </a:r>
              </a:p>
              <a:p>
                <a:pPr marL="0" indent="0">
                  <a:buNone/>
                </a:pPr>
                <a:r>
                  <a:rPr lang="en-US" dirty="0"/>
                  <a:t>    T(m)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(1-2/m) O(1) + (2/m)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+ T(m-1)</a:t>
                </a:r>
              </a:p>
              <a:p>
                <a:pPr marL="0" indent="0">
                  <a:buNone/>
                </a:pPr>
                <a:r>
                  <a:rPr lang="en-US" dirty="0"/>
                  <a:t>            = O(1) + T(m-1)</a:t>
                </a:r>
              </a:p>
              <a:p>
                <a:pPr marL="0" indent="0">
                  <a:buNone/>
                </a:pPr>
                <a:r>
                  <a:rPr lang="en-US" dirty="0"/>
                  <a:t>            = O(m). Also add initial constant time for finding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96556"/>
              </a:xfrm>
              <a:blipFill>
                <a:blip r:embed="rId2"/>
                <a:stretch>
                  <a:fillRect l="-812" t="-2414" b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376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What if the LP is Infeasible?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13828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Let j be the largest index for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infeasible. 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feasible</a:t>
                </a:r>
              </a:p>
              <a:p>
                <a:endParaRPr lang="en-US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randomly ordered, we spend an expected O(m) time to process such constraints</a:t>
                </a:r>
              </a:p>
              <a:p>
                <a:endParaRPr lang="en-US" dirty="0"/>
              </a:p>
              <a:p>
                <a:r>
                  <a:rPr lang="en-US" dirty="0"/>
                  <a:t>When processing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we will find </a:t>
                </a:r>
              </a:p>
              <a:p>
                <a:pPr marL="0" indent="0">
                  <a:buNone/>
                </a:pPr>
                <a:r>
                  <a:rPr lang="en-US" dirty="0"/>
                  <a:t>   the constraints are infeasible in O(m) time </a:t>
                </a:r>
              </a:p>
              <a:p>
                <a:pPr marL="0" indent="0">
                  <a:buNone/>
                </a:pPr>
                <a:r>
                  <a:rPr lang="en-US" dirty="0"/>
                  <a:t>   when solving the 1-dimensional problem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13828" cy="4351338"/>
              </a:xfrm>
              <a:blipFill>
                <a:blip r:embed="rId2"/>
                <a:stretch>
                  <a:fillRect l="-1006" t="-2941" r="-1508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027" y="4236673"/>
            <a:ext cx="2965836" cy="253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6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612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What If More than 2 lines Intersect at a Point?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6881"/>
            <a:ext cx="10515600" cy="694938"/>
          </a:xfrm>
        </p:spPr>
        <p:txBody>
          <a:bodyPr/>
          <a:lstStyle/>
          <a:p>
            <a:r>
              <a:rPr lang="en-US" dirty="0"/>
              <a:t>2 of the constraints “hold down” the optimum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2969149" y="3012417"/>
            <a:ext cx="2115048" cy="2115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4980829" y="3012417"/>
            <a:ext cx="103368" cy="2663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084196" y="3012417"/>
            <a:ext cx="1502796" cy="2250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084196" y="1946280"/>
            <a:ext cx="4313804" cy="10661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963062" y="4165357"/>
            <a:ext cx="246490" cy="238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32512" y="4403896"/>
            <a:ext cx="314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5608981" y="4344260"/>
            <a:ext cx="357810" cy="189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050044" y="2527884"/>
            <a:ext cx="87356" cy="400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838200" y="5807571"/>
            <a:ext cx="10515600" cy="694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Additional constraints can only help you</a:t>
            </a:r>
          </a:p>
        </p:txBody>
      </p:sp>
      <p:grpSp>
        <p:nvGrpSpPr>
          <p:cNvPr id="38" name="Group 37"/>
          <p:cNvGrpSpPr/>
          <p:nvPr/>
        </p:nvGrpSpPr>
        <p:grpSpPr>
          <a:xfrm rot="16614829">
            <a:off x="6014904" y="3704973"/>
            <a:ext cx="4550997" cy="734702"/>
            <a:chOff x="2733261" y="2853324"/>
            <a:chExt cx="5287617" cy="734702"/>
          </a:xfrm>
        </p:grpSpPr>
        <p:cxnSp>
          <p:nvCxnSpPr>
            <p:cNvPr id="39" name="Straight Connector 38"/>
            <p:cNvCxnSpPr/>
            <p:nvPr/>
          </p:nvCxnSpPr>
          <p:spPr>
            <a:xfrm flipV="1">
              <a:off x="2733261" y="2892287"/>
              <a:ext cx="5287617" cy="6957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 flipV="1">
              <a:off x="5263763" y="2853324"/>
              <a:ext cx="99391" cy="3935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Arrow Connector 7"/>
          <p:cNvCxnSpPr/>
          <p:nvPr/>
        </p:nvCxnSpPr>
        <p:spPr>
          <a:xfrm flipV="1">
            <a:off x="10491537" y="3388093"/>
            <a:ext cx="0" cy="95616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5084195" y="3019199"/>
            <a:ext cx="2787570" cy="2234155"/>
            <a:chOff x="5126413" y="3028482"/>
            <a:chExt cx="2787570" cy="2234155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5126413" y="3028482"/>
              <a:ext cx="2787570" cy="22341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6313397" y="4235809"/>
              <a:ext cx="357810" cy="1895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711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Higher Dimensions?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The probability that our optimum changes is now at most d/m instead of 2/m</a:t>
            </a:r>
          </a:p>
          <a:p>
            <a:endParaRPr lang="en-US" dirty="0"/>
          </a:p>
          <a:p>
            <a:r>
              <a:rPr lang="en-US" dirty="0"/>
              <a:t>When we find a violated constraint, we need to find a new optimum</a:t>
            </a:r>
          </a:p>
          <a:p>
            <a:endParaRPr lang="en-US" dirty="0"/>
          </a:p>
          <a:p>
            <a:r>
              <a:rPr lang="en-US" dirty="0"/>
              <a:t>New optimum inside this hyperplane</a:t>
            </a:r>
          </a:p>
          <a:p>
            <a:pPr lvl="1"/>
            <a:r>
              <a:rPr lang="en-US" dirty="0"/>
              <a:t>Project each constraint into this hyperplane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Solve a (d-1)-dimensional linear program on m-1 constraints to find optimum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Time is O(</a:t>
            </a:r>
            <a:r>
              <a:rPr lang="en-US" dirty="0" err="1"/>
              <a:t>d!m</a:t>
            </a:r>
            <a:r>
              <a:rPr lang="en-US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3113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Ellipsoid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72249" y="1663393"/>
                <a:ext cx="10082438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Solves feasibility problem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Replace objective function with constraint, do binary search</a:t>
                </a:r>
              </a:p>
              <a:p>
                <a:r>
                  <a:rPr lang="en-US" sz="2800" dirty="0"/>
                  <a:t>	Replace “minimize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" </m:t>
                    </m:r>
                  </m:oMath>
                </a14:m>
                <a:r>
                  <a:rPr lang="en-US" sz="280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249" y="1663393"/>
                <a:ext cx="10082438" cy="3108543"/>
              </a:xfrm>
              <a:prstGeom prst="rect">
                <a:avLst/>
              </a:prstGeom>
              <a:blipFill>
                <a:blip r:embed="rId2"/>
                <a:stretch>
                  <a:fillRect l="-12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249" y="3743805"/>
            <a:ext cx="5421195" cy="275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22686" y="4284155"/>
            <a:ext cx="403200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Can handle exponential</a:t>
            </a:r>
          </a:p>
          <a:p>
            <a:r>
              <a:rPr lang="en-US" sz="2800" dirty="0"/>
              <a:t>number of constraints if </a:t>
            </a:r>
          </a:p>
          <a:p>
            <a:r>
              <a:rPr lang="en-US" sz="2800" dirty="0"/>
              <a:t>there’s a separation oracle</a:t>
            </a:r>
          </a:p>
        </p:txBody>
      </p:sp>
    </p:spTree>
    <p:extLst>
      <p:ext uri="{BB962C8B-B14F-4D97-AF65-F5344CB8AC3E}">
        <p14:creationId xmlns:p14="http://schemas.microsoft.com/office/powerpoint/2010/main" val="255268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132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Simplex Algorithm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445" y="1044053"/>
            <a:ext cx="8467725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54636" y="5230372"/>
            <a:ext cx="95346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Start at vertex of the feasible region (polyhedron in high dimensions) </a:t>
            </a:r>
          </a:p>
          <a:p>
            <a:r>
              <a:rPr lang="en-US" sz="2400" dirty="0"/>
              <a:t>Look at cost of objective function at each neighbor</a:t>
            </a:r>
          </a:p>
          <a:p>
            <a:r>
              <a:rPr lang="en-US" sz="2400" dirty="0"/>
              <a:t>Move to neighbor </a:t>
            </a:r>
            <a:r>
              <a:rPr lang="en-US" sz="2400"/>
              <a:t>of maximum </a:t>
            </a:r>
            <a:r>
              <a:rPr lang="en-US" sz="2400" dirty="0"/>
              <a:t>cost</a:t>
            </a:r>
          </a:p>
          <a:p>
            <a:r>
              <a:rPr lang="en-US" sz="2400" dirty="0"/>
              <a:t>Always make progress, but could take exponential time (in high dimensions)</a:t>
            </a:r>
          </a:p>
        </p:txBody>
      </p:sp>
    </p:spTree>
    <p:extLst>
      <p:ext uri="{BB962C8B-B14F-4D97-AF65-F5344CB8AC3E}">
        <p14:creationId xmlns:p14="http://schemas.microsoft.com/office/powerpoint/2010/main" val="123041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Simplex Algorithm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568539" y="2352782"/>
            <a:ext cx="2640459" cy="832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208998" y="3184989"/>
            <a:ext cx="1395002" cy="777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604000" y="3962400"/>
            <a:ext cx="567362" cy="2397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3686629" y="3573694"/>
            <a:ext cx="2177877" cy="246425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788229" y="1553029"/>
            <a:ext cx="319314" cy="3476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ular Callout 14"/>
          <p:cNvSpPr/>
          <p:nvPr/>
        </p:nvSpPr>
        <p:spPr>
          <a:xfrm>
            <a:off x="7576457" y="858707"/>
            <a:ext cx="3004458" cy="1736333"/>
          </a:xfrm>
          <a:prstGeom prst="wedge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Get stuck in local maximum?</a:t>
            </a:r>
          </a:p>
        </p:txBody>
      </p:sp>
      <p:sp>
        <p:nvSpPr>
          <p:cNvPr id="16" name="Rectangular Callout 15"/>
          <p:cNvSpPr/>
          <p:nvPr/>
        </p:nvSpPr>
        <p:spPr>
          <a:xfrm>
            <a:off x="8373439" y="3477395"/>
            <a:ext cx="2830286" cy="1911320"/>
          </a:xfrm>
          <a:prstGeom prst="wedgeRect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No, since feasible set is convex</a:t>
            </a:r>
          </a:p>
        </p:txBody>
      </p:sp>
    </p:spTree>
    <p:extLst>
      <p:ext uri="{BB962C8B-B14F-4D97-AF65-F5344CB8AC3E}">
        <p14:creationId xmlns:p14="http://schemas.microsoft.com/office/powerpoint/2010/main" val="1175879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561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Other Annoyances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774"/>
                <a:ext cx="10641496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How to start at a vertex of the feasible region?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if it’s not even feasible?</a:t>
                </a:r>
              </a:p>
              <a:p>
                <a:r>
                  <a:rPr lang="en-US" dirty="0"/>
                  <a:t>Introduce “slack” variable s. Consider:</a:t>
                </a:r>
              </a:p>
              <a:p>
                <a:r>
                  <a:rPr lang="en-US" dirty="0">
                    <a:latin typeface="Cambria Math" panose="02040503050406030204" pitchFamily="18" charset="0"/>
                  </a:rPr>
                  <a:t>min s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  subject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≥0,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Feasible. Can run simplex starting at x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US" dirty="0"/>
                  <a:t> and s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If original LP is feasible, minimum achieved when s = 0, and x that is output is a vertex in the feasible region of original LP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774"/>
                <a:ext cx="10641496" cy="5032375"/>
              </a:xfrm>
              <a:blipFill>
                <a:blip r:embed="rId2"/>
                <a:stretch>
                  <a:fillRect l="-917" t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19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Other Annoyances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052" y="1558166"/>
                <a:ext cx="11873947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What if the feasible region is unbounded?</a:t>
                </a:r>
              </a:p>
              <a:p>
                <a:pPr lvl="1"/>
                <a:r>
                  <a:rPr lang="en-US" sz="2800" dirty="0"/>
                  <a:t>Ok, as long as objective function is bounded</a:t>
                </a:r>
              </a:p>
              <a:p>
                <a:pPr lvl="1"/>
                <a:endParaRPr lang="en-US" sz="2800" dirty="0"/>
              </a:p>
              <a:p>
                <a:r>
                  <a:rPr lang="en-US" dirty="0"/>
                  <a:t>What if objective function is unbounded?</a:t>
                </a:r>
              </a:p>
              <a:p>
                <a:pPr lvl="1"/>
                <a:r>
                  <a:rPr lang="en-US" sz="2800" dirty="0"/>
                  <a:t>Output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800" dirty="0"/>
                  <a:t>, how to detect this?</a:t>
                </a:r>
              </a:p>
              <a:p>
                <a:pPr lvl="1"/>
                <a:endParaRPr lang="en-US" sz="2800" dirty="0"/>
              </a:p>
              <a:p>
                <a:r>
                  <a:rPr lang="en-US" dirty="0"/>
                  <a:t>Many ways</a:t>
                </a:r>
              </a:p>
              <a:p>
                <a:pPr lvl="1"/>
                <a:r>
                  <a:rPr lang="en-US" sz="2800" dirty="0"/>
                  <a:t>see one based on duality in the next lecture</a:t>
                </a:r>
              </a:p>
              <a:p>
                <a:pPr lvl="1"/>
                <a:r>
                  <a:rPr lang="en-US" sz="2800" dirty="0"/>
                  <a:t>include constraints –M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2800" dirty="0"/>
                  <a:t> for all </a:t>
                </a:r>
                <a:r>
                  <a:rPr lang="en-US" sz="2800" dirty="0" err="1"/>
                  <a:t>i</a:t>
                </a:r>
                <a:r>
                  <a:rPr lang="en-US" sz="2800" dirty="0"/>
                  <a:t>, for a very large value M</a:t>
                </a:r>
              </a:p>
              <a:p>
                <a:pPr lvl="1"/>
                <a:r>
                  <a:rPr lang="en-US" sz="2800" dirty="0"/>
                  <a:t>can efficiently find M to ensure if solution is finite, still find the optimum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052" y="1558166"/>
                <a:ext cx="11873947" cy="5032375"/>
              </a:xfrm>
              <a:blipFill>
                <a:blip r:embed="rId2"/>
                <a:stretch>
                  <a:fillRect l="-924" t="-2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222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4487</TotalTime>
  <Words>1480</Words>
  <Application>Microsoft Office PowerPoint</Application>
  <PresentationFormat>Widescreen</PresentationFormat>
  <Paragraphs>170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PowerPoint Presentation</vt:lpstr>
      <vt:lpstr>Outline</vt:lpstr>
      <vt:lpstr>L1 Regression</vt:lpstr>
      <vt:lpstr>Seidel’s 2-Dimensional Algorithm</vt:lpstr>
      <vt:lpstr>What if the LP is unbounded?</vt:lpstr>
      <vt:lpstr>What Convexity Tells Us</vt:lpstr>
      <vt:lpstr>An O(m^2 ) Time Algorithm</vt:lpstr>
      <vt:lpstr>1-Dimensional Problem </vt:lpstr>
      <vt:lpstr>An O(m^2 ) Time Algorithm</vt:lpstr>
      <vt:lpstr>Seidel’s O(m) Time Algorithm</vt:lpstr>
      <vt:lpstr>Backwards Analysis</vt:lpstr>
      <vt:lpstr>Backwards Analysis</vt:lpstr>
      <vt:lpstr>What if the LP is Infeasible?</vt:lpstr>
      <vt:lpstr>What If More than 2 lines Intersect at a Point?</vt:lpstr>
      <vt:lpstr>Higher Dimensions?</vt:lpstr>
      <vt:lpstr>Ellipsoid Algorithm</vt:lpstr>
      <vt:lpstr>Simplex Algorithm</vt:lpstr>
      <vt:lpstr>Simplex Algorithm</vt:lpstr>
      <vt:lpstr>Other Annoyances I</vt:lpstr>
      <vt:lpstr>Other Annoyances II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Woodruff temp</dc:creator>
  <cp:lastModifiedBy>David Woodruff</cp:lastModifiedBy>
  <cp:revision>150</cp:revision>
  <cp:lastPrinted>2020-02-08T21:03:23Z</cp:lastPrinted>
  <dcterms:created xsi:type="dcterms:W3CDTF">2018-02-04T18:08:07Z</dcterms:created>
  <dcterms:modified xsi:type="dcterms:W3CDTF">2024-03-15T23:59:59Z</dcterms:modified>
</cp:coreProperties>
</file>