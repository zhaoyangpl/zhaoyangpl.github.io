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1"/>
  </p:handoutMasterIdLst>
  <p:sldIdLst>
    <p:sldId id="256" r:id="rId2"/>
    <p:sldId id="298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E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52E2EC-7178-4614-B862-E9F3760B31DB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FD04E-EF62-496B-AB4F-5AD7CA64F8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76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1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9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3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35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89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43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9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1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9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31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0C7B2-B77A-4440-B592-6E792395604E}" type="datetimeFigureOut">
              <a:rPr lang="en-US" smtClean="0"/>
              <a:t>4/13/2021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A431E-DBD1-41BF-AF86-5885ABD69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6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25594"/>
            <a:ext cx="9144000" cy="2387600"/>
          </a:xfrm>
        </p:spPr>
        <p:txBody>
          <a:bodyPr>
            <a:normAutofit/>
          </a:bodyPr>
          <a:lstStyle/>
          <a:p>
            <a:r>
              <a:rPr lang="en-US" smtClean="0"/>
              <a:t>The </a:t>
            </a:r>
            <a:r>
              <a:rPr lang="en-US" dirty="0" smtClean="0"/>
              <a:t>Multiplicative Weights Algorithm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71058"/>
            <a:ext cx="9144000" cy="112563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David Woodruff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3509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The Experts Problem</a:t>
            </a:r>
            <a:endParaRPr lang="en-US" dirty="0">
              <a:solidFill>
                <a:schemeClr val="accent2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707" y="5011838"/>
            <a:ext cx="9653286" cy="1846162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690688"/>
            <a:ext cx="10515600" cy="4695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n “experts” predict an outcome on each day</a:t>
            </a:r>
          </a:p>
          <a:p>
            <a:endParaRPr lang="en-US" dirty="0" smtClean="0"/>
          </a:p>
          <a:p>
            <a:r>
              <a:rPr lang="en-US" dirty="0" smtClean="0"/>
              <a:t>Expert = someone with an opinion, not necessarily someone who knows anything</a:t>
            </a:r>
          </a:p>
          <a:p>
            <a:endParaRPr lang="en-US" dirty="0"/>
          </a:p>
          <a:p>
            <a:r>
              <a:rPr lang="en-US" dirty="0" smtClean="0"/>
              <a:t>For example, the experts could try to predict the stock market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70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The Experts Problem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9524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n “experts” predict an outcome on each of T days, t = 1, …, T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On day t, the </a:t>
                </a:r>
                <a:r>
                  <a:rPr lang="en-US" dirty="0" err="1" smtClean="0"/>
                  <a:t>i-th</a:t>
                </a:r>
                <a:r>
                  <a:rPr lang="en-US" dirty="0" smtClean="0"/>
                  <a:t> expert predicts outcome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ou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On day t, you see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ou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ou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dirty="0" smtClean="0"/>
                  <a:t> and make your prediction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gues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/>
                  <a:t>T</a:t>
                </a:r>
                <a:r>
                  <a:rPr lang="en-US" dirty="0" smtClean="0"/>
                  <a:t>hen you see the actual outcome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ou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dirty="0" smtClean="0"/>
                  <a:t> on day t</a:t>
                </a:r>
              </a:p>
              <a:p>
                <a:endParaRPr lang="en-US" dirty="0"/>
              </a:p>
              <a:p>
                <a:r>
                  <a:rPr lang="en-US" dirty="0" smtClean="0"/>
                  <a:t>You are correct if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guess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ou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</m:oMath>
                </a14:m>
                <a:r>
                  <a:rPr lang="en-US" dirty="0" smtClean="0"/>
                  <a:t> and wrong otherwise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95248"/>
              </a:xfrm>
              <a:blipFill>
                <a:blip r:embed="rId2"/>
                <a:stretch>
                  <a:fillRect l="-1043" t="-2075" b="-1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4682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The Experts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88684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Goal: </a:t>
            </a:r>
            <a:r>
              <a:rPr lang="en-US" dirty="0" smtClean="0"/>
              <a:t>if the best expert is wrong on M days, you want to be wrong on at most M days, plus a little bit</a:t>
            </a:r>
          </a:p>
          <a:p>
            <a:endParaRPr lang="en-US" dirty="0" smtClean="0"/>
          </a:p>
          <a:p>
            <a:r>
              <a:rPr lang="en-US" dirty="0"/>
              <a:t>D</a:t>
            </a:r>
            <a:r>
              <a:rPr lang="en-US" dirty="0" smtClean="0"/>
              <a:t>on’t </a:t>
            </a:r>
            <a:r>
              <a:rPr lang="en-US" dirty="0"/>
              <a:t>make </a:t>
            </a:r>
            <a:r>
              <a:rPr lang="en-US" dirty="0" smtClean="0"/>
              <a:t>assumptions </a:t>
            </a:r>
            <a:r>
              <a:rPr lang="en-US" dirty="0"/>
              <a:t>on the input</a:t>
            </a:r>
          </a:p>
          <a:p>
            <a:endParaRPr lang="en-US" dirty="0"/>
          </a:p>
          <a:p>
            <a:r>
              <a:rPr lang="en-US" dirty="0"/>
              <a:t>D</a:t>
            </a:r>
            <a:r>
              <a:rPr lang="en-US" dirty="0" smtClean="0"/>
              <a:t>on’t </a:t>
            </a:r>
            <a:r>
              <a:rPr lang="en-US" dirty="0"/>
              <a:t>assume </a:t>
            </a:r>
            <a:r>
              <a:rPr lang="en-US" dirty="0" smtClean="0"/>
              <a:t>future </a:t>
            </a:r>
            <a:r>
              <a:rPr lang="en-US" dirty="0"/>
              <a:t>looks like the past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</a:t>
            </a:r>
            <a:r>
              <a:rPr lang="en-US" dirty="0" smtClean="0"/>
              <a:t>ou want to do as well as the best single expert in hindsight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i="1" dirty="0" smtClean="0">
                <a:solidFill>
                  <a:srgbClr val="FF0000"/>
                </a:solidFill>
              </a:rPr>
              <a:t>How should you choose your guess on each day?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38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Simpler Question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79418"/>
                <a:ext cx="11425382" cy="527858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Suppose at least one expert is perfect, i.e., never makes a mistake</a:t>
                </a:r>
              </a:p>
              <a:p>
                <a:pPr lvl="1"/>
                <a:r>
                  <a:rPr lang="en-US" dirty="0"/>
                  <a:t>D</a:t>
                </a:r>
                <a:r>
                  <a:rPr lang="en-US" dirty="0" smtClean="0"/>
                  <a:t>on’t know which one</a:t>
                </a:r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Suppose each expert predicts one of two values: 0 or 1 </a:t>
                </a:r>
              </a:p>
              <a:p>
                <a:pPr lvl="1"/>
                <a:r>
                  <a:rPr lang="en-US" dirty="0"/>
                  <a:t>S</a:t>
                </a:r>
                <a:r>
                  <a:rPr lang="en-US" dirty="0" smtClean="0"/>
                  <a:t>tock market will go up or down</a:t>
                </a:r>
              </a:p>
              <a:p>
                <a:endParaRPr lang="en-US" dirty="0"/>
              </a:p>
              <a:p>
                <a:r>
                  <a:rPr lang="en-US" dirty="0" smtClean="0"/>
                  <a:t>Can we find a strategy that makes no more than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⌊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dirty="0" smtClean="0"/>
                  <a:t> mistakes?</a:t>
                </a:r>
              </a:p>
              <a:p>
                <a:endParaRPr lang="en-US" dirty="0"/>
              </a:p>
              <a:p>
                <a:r>
                  <a:rPr lang="en-US" dirty="0" smtClean="0">
                    <a:solidFill>
                      <a:srgbClr val="FF0000"/>
                    </a:solidFill>
                  </a:rPr>
                  <a:t>Majority-and-halving</a:t>
                </a:r>
                <a:r>
                  <a:rPr lang="en-US" dirty="0" smtClean="0"/>
                  <a:t>: On each day, take the majority vote of all experts</a:t>
                </a:r>
                <a:endParaRPr lang="en-US" dirty="0"/>
              </a:p>
              <a:p>
                <a:pPr lvl="1"/>
                <a:r>
                  <a:rPr lang="en-US" dirty="0" smtClean="0"/>
                  <a:t>Each time you’re wrong, you can remove at least half the experts</a:t>
                </a:r>
                <a:endParaRPr lang="en-US" dirty="0"/>
              </a:p>
              <a:p>
                <a:pPr lvl="1"/>
                <a:r>
                  <a:rPr lang="en-US" dirty="0" smtClean="0"/>
                  <a:t>After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⌊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lg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mistakes you’re left with the perfect expert</a:t>
                </a:r>
              </a:p>
              <a:p>
                <a:pPr lvl="1"/>
                <a:endParaRPr lang="en-US" dirty="0"/>
              </a:p>
              <a:p>
                <a:r>
                  <a:rPr lang="en-US" dirty="0" smtClean="0"/>
                  <a:t>Same guarantee if experts predict more than 2 values</a:t>
                </a:r>
              </a:p>
              <a:p>
                <a:pPr lvl="1"/>
                <a:r>
                  <a:rPr lang="en-US" dirty="0" smtClean="0"/>
                  <a:t>You choose most frequent prediction. If wrong, at least half the experts are wrong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79418"/>
                <a:ext cx="11425382" cy="5278581"/>
              </a:xfrm>
              <a:blipFill>
                <a:blip r:embed="rId2"/>
                <a:stretch>
                  <a:fillRect l="-800" t="-2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5990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4509" y="208371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Can You Do Better?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94509" y="1533934"/>
                <a:ext cx="11231880" cy="5213984"/>
              </a:xfrm>
            </p:spPr>
            <p:txBody>
              <a:bodyPr>
                <a:noAutofit/>
              </a:bodyPr>
              <a:lstStyle/>
              <a:p>
                <a:r>
                  <a:rPr lang="en-US" sz="2200" dirty="0" smtClean="0">
                    <a:solidFill>
                      <a:srgbClr val="FF0000"/>
                    </a:solidFill>
                  </a:rPr>
                  <a:t>Claim: </a:t>
                </a:r>
                <a:r>
                  <a:rPr lang="en-US" sz="2200" dirty="0" smtClean="0"/>
                  <a:t>in the worst case, any deterministic strategy </a:t>
                </a:r>
                <a:r>
                  <a:rPr lang="en-US" sz="2200" dirty="0" smtClean="0"/>
                  <a:t>makes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lg</m:t>
                            </m:r>
                          </m:e>
                          <m:sub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</m:oMath>
                </a14:m>
                <a:r>
                  <a:rPr lang="en-US" sz="2200" dirty="0"/>
                  <a:t> </a:t>
                </a:r>
                <a:r>
                  <a:rPr lang="en-US" sz="2200" dirty="0" smtClean="0"/>
                  <a:t>mistakes </a:t>
                </a:r>
                <a:endParaRPr lang="en-US" sz="2200" dirty="0"/>
              </a:p>
              <a:p>
                <a:r>
                  <a:rPr lang="en-US" sz="2200" dirty="0" smtClean="0">
                    <a:solidFill>
                      <a:srgbClr val="FF0000"/>
                    </a:solidFill>
                  </a:rPr>
                  <a:t>Proof: adversary method</a:t>
                </a:r>
              </a:p>
              <a:p>
                <a:r>
                  <a:rPr lang="en-US" sz="2200" dirty="0" smtClean="0"/>
                  <a:t>Day 1: make the first n/2 experts say 0, and the second n/2 experts say 1</a:t>
                </a:r>
              </a:p>
              <a:p>
                <a:pPr lvl="1"/>
                <a:r>
                  <a:rPr lang="en-US" sz="2200" dirty="0" smtClean="0"/>
                  <a:t>If predictor outputs 0, then say the best expert outputs 1</a:t>
                </a:r>
              </a:p>
              <a:p>
                <a:pPr lvl="1"/>
                <a:r>
                  <a:rPr lang="en-US" sz="2200" dirty="0" smtClean="0"/>
                  <a:t>If predictor outputs 1, then say the best expert outputs 0</a:t>
                </a:r>
              </a:p>
              <a:p>
                <a:pPr lvl="1"/>
                <a:r>
                  <a:rPr lang="en-US" sz="2200" dirty="0" smtClean="0"/>
                  <a:t>Perfect expert is either in [1, n/2] or in [n/2+1, n]</a:t>
                </a:r>
              </a:p>
              <a:p>
                <a:r>
                  <a:rPr lang="en-US" sz="2200" dirty="0"/>
                  <a:t>D</a:t>
                </a:r>
                <a:r>
                  <a:rPr lang="en-US" sz="2200" dirty="0" smtClean="0"/>
                  <a:t>ay 2: in each interval [1, n/2] and [n/2+1, n], make first half of the experts say 0 and second half of the experts say 1</a:t>
                </a:r>
              </a:p>
              <a:p>
                <a:pPr lvl="1"/>
                <a:r>
                  <a:rPr lang="en-US" sz="2200" dirty="0" smtClean="0"/>
                  <a:t>If predictor outputs 0, then say the best expert outputs 1</a:t>
                </a:r>
              </a:p>
              <a:p>
                <a:pPr lvl="1"/>
                <a:r>
                  <a:rPr lang="en-US" sz="2200" dirty="0" smtClean="0"/>
                  <a:t>If predictor outputs 1, then say the best expert outputs 0</a:t>
                </a:r>
              </a:p>
              <a:p>
                <a:pPr lvl="1"/>
                <a:r>
                  <a:rPr lang="en-US" sz="2200" dirty="0" smtClean="0"/>
                  <a:t>Perfect expert is either in [1, n/4], [n/4+1, n/2], [n/2+1, 3n/4], or [3n/4+1, n]</a:t>
                </a:r>
              </a:p>
              <a:p>
                <a:r>
                  <a:rPr lang="en-US" sz="2600" dirty="0" smtClean="0"/>
                  <a:t>…</a:t>
                </a:r>
              </a:p>
              <a:p>
                <a:r>
                  <a:rPr lang="en-US" sz="2200" dirty="0" smtClean="0"/>
                  <a:t>Any deterministic strategy is incorrect on at least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lg</m:t>
                            </m:r>
                          </m:e>
                          <m:sub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</m:oMath>
                </a14:m>
                <a:r>
                  <a:rPr lang="en-US" sz="2200" dirty="0" smtClean="0"/>
                  <a:t> days</a:t>
                </a:r>
                <a:endParaRPr lang="en-US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4509" y="1533934"/>
                <a:ext cx="11231880" cy="5213984"/>
              </a:xfrm>
              <a:blipFill>
                <a:blip r:embed="rId2"/>
                <a:stretch>
                  <a:fillRect l="-869" t="-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626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No Perfect Expert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0174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 smtClean="0"/>
                  <a:t>Suppose best expert makes M mistakes</a:t>
                </a:r>
              </a:p>
              <a:p>
                <a:endParaRPr lang="en-US" dirty="0"/>
              </a:p>
              <a:p>
                <a:r>
                  <a:rPr lang="en-US" dirty="0" smtClean="0"/>
                  <a:t>How can we guarantee we make at most (M+1)(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  <m:r>
                      <a:rPr lang="en-US" b="0" i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dirty="0" smtClean="0"/>
                  <a:t> mistakes?</a:t>
                </a:r>
              </a:p>
              <a:p>
                <a:endParaRPr lang="en-US" dirty="0"/>
              </a:p>
              <a:p>
                <a:r>
                  <a:rPr lang="en-US" dirty="0" smtClean="0"/>
                  <a:t>Run Majority-and-Halving, but after throwing away all experts, bring them all back in and start over</a:t>
                </a:r>
              </a:p>
              <a:p>
                <a:endParaRPr lang="en-US" dirty="0"/>
              </a:p>
              <a:p>
                <a:r>
                  <a:rPr lang="en-US" dirty="0" smtClean="0"/>
                  <a:t>In each “phase”, each expert makes at least 1 mistake, and you make at most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mistakes</a:t>
                </a:r>
              </a:p>
              <a:p>
                <a:endParaRPr lang="en-US" dirty="0"/>
              </a:p>
              <a:p>
                <a:r>
                  <a:rPr lang="en-US" dirty="0" smtClean="0"/>
                  <a:t>At most M finished phases, plus the last unfinished one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01746"/>
              </a:xfrm>
              <a:blipFill>
                <a:blip r:embed="rId2"/>
                <a:stretch>
                  <a:fillRect l="-928" t="-2484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86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Doing Better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96389" y="1877876"/>
                <a:ext cx="1146918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If best expert makes M mistakes, we make at most (M+1</a:t>
                </a:r>
                <a:r>
                  <a:rPr lang="en-US" dirty="0"/>
                  <a:t>)(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  <m:r>
                      <a:rPr lang="en-US">
                        <a:latin typeface="Cambria Math" panose="02040503050406030204" pitchFamily="18" charset="0"/>
                      </a:rPr>
                      <m:t>+1)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/>
                  <a:t> mistakes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Can’t do better than best expert, who makes M mistakes</a:t>
                </a:r>
              </a:p>
              <a:p>
                <a:pPr lvl="1"/>
                <a:r>
                  <a:rPr lang="en-US" dirty="0"/>
                  <a:t>S</a:t>
                </a:r>
                <a:r>
                  <a:rPr lang="en-US" dirty="0" smtClean="0"/>
                  <a:t>uppose only one expert who always says 1 and is wrong M times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C</a:t>
                </a:r>
                <a:r>
                  <a:rPr lang="en-US" dirty="0" smtClean="0"/>
                  <a:t>an’t do better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 smtClean="0"/>
                  <a:t> mistakes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 smtClean="0"/>
                  <a:t>But can we make at most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</m:oMath>
                </a14:m>
                <a:r>
                  <a:rPr lang="en-US" dirty="0" smtClean="0"/>
                  <a:t> mistakes instead of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func>
                  </m:oMath>
                </a14:m>
                <a:r>
                  <a:rPr lang="en-US" dirty="0" smtClean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6389" y="1877876"/>
                <a:ext cx="11469188" cy="4351338"/>
              </a:xfrm>
              <a:blipFill>
                <a:blip r:embed="rId2"/>
                <a:stretch>
                  <a:fillRect l="-956" t="-224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11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Weighted Majority Algorithm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0174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Throwing away an expert when it makes a mistake is too drastic</a:t>
                </a:r>
              </a:p>
              <a:p>
                <a:endParaRPr lang="en-US" dirty="0"/>
              </a:p>
              <a:p>
                <a:r>
                  <a:rPr lang="en-US" dirty="0"/>
                  <a:t>A</a:t>
                </a:r>
                <a:r>
                  <a:rPr lang="en-US" dirty="0" smtClean="0"/>
                  <a:t>ssign 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 smtClean="0"/>
                  <a:t> to </a:t>
                </a:r>
                <a:r>
                  <a:rPr lang="en-US" dirty="0" err="1" smtClean="0"/>
                  <a:t>i-th</a:t>
                </a:r>
                <a:r>
                  <a:rPr lang="en-US" dirty="0" smtClean="0"/>
                  <a:t> expert. Initialize all weights to 1</a:t>
                </a:r>
              </a:p>
              <a:p>
                <a:endParaRPr lang="en-US" dirty="0"/>
              </a:p>
              <a:p>
                <a:r>
                  <a:rPr lang="en-US" dirty="0" smtClean="0"/>
                  <a:t>On t-</a:t>
                </a:r>
                <a:r>
                  <a:rPr lang="en-US" dirty="0" err="1" smtClean="0"/>
                  <a:t>th</a:t>
                </a:r>
                <a:r>
                  <a:rPr lang="en-US" dirty="0" smtClean="0"/>
                  <a:t> day, compute sum of weights of experts who say 0, and sum of weights of experts who say 1 </a:t>
                </a:r>
              </a:p>
              <a:p>
                <a:endParaRPr lang="en-US" dirty="0"/>
              </a:p>
              <a:p>
                <a:r>
                  <a:rPr lang="en-US" dirty="0" smtClean="0"/>
                  <a:t>Choose outcome with larger weight</a:t>
                </a:r>
              </a:p>
              <a:p>
                <a:endParaRPr lang="en-US" dirty="0"/>
              </a:p>
              <a:p>
                <a:r>
                  <a:rPr lang="en-US" dirty="0" smtClean="0"/>
                  <a:t>If an expert is wrong on day t, cut its weight in half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01746"/>
              </a:xfrm>
              <a:blipFill>
                <a:blip r:embed="rId2"/>
                <a:stretch>
                  <a:fillRect l="-1043" t="-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3402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Weighted Majority Algorithm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14809"/>
              </a:xfrm>
            </p:spPr>
            <p:txBody>
              <a:bodyPr/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Theorem: </a:t>
                </a:r>
                <a:r>
                  <a:rPr lang="en-US" dirty="0" smtClean="0"/>
                  <a:t>If the best expert makes M mistakes, then the weighted majority algorithm makes at most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2.41(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 smtClean="0"/>
                  <a:t> mistakes!</a:t>
                </a:r>
              </a:p>
              <a:p>
                <a:endParaRPr lang="en-US" dirty="0"/>
              </a:p>
              <a:p>
                <a:r>
                  <a:rPr lang="en-US" dirty="0" smtClean="0"/>
                  <a:t>Proof: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 smtClean="0"/>
                  <a:t>. Initially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When we make a mistake,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pPr lvl="1"/>
                <a:r>
                  <a:rPr lang="en-US" dirty="0"/>
                  <a:t>A</a:t>
                </a:r>
                <a:r>
                  <a:rPr lang="en-US" dirty="0" smtClean="0"/>
                  <a:t>t least half of the weight (which made the majority prediction) gets halved (because it made a mistake)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</a:t>
                </a:r>
                <a:r>
                  <a:rPr lang="en-US" dirty="0" smtClean="0"/>
                  <a:t>f we don’t make a mistake,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14809"/>
              </a:xfrm>
              <a:blipFill>
                <a:blip r:embed="rId2"/>
                <a:stretch>
                  <a:fillRect l="-1043" t="-1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22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Weighted Majority Algorithm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2311" y="1851750"/>
                <a:ext cx="11127377" cy="500624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If we’ve made m mistakes so far,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final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init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Best expert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 smtClean="0"/>
                  <a:t> makes at most M mistakes,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final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final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 smtClean="0"/>
                  <a:t>, 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Taking logs,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=2.41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If best expert makes a mistake 10% of the time, we make a mistake 24% of the time, plus ((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 smtClean="0"/>
                  <a:t>) /T) %, which is negligible with enough days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311" y="1851750"/>
                <a:ext cx="11127377" cy="5006249"/>
              </a:xfrm>
              <a:blipFill>
                <a:blip r:embed="rId2"/>
                <a:stretch>
                  <a:fillRect l="-821" t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23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Improved Weighted Majority Algorithm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2940" y="2021567"/>
                <a:ext cx="1086612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Only change: </a:t>
                </a:r>
                <a:r>
                  <a:rPr lang="en-US" dirty="0" smtClean="0"/>
                  <a:t>if an expert is wrong on day t, multiply its weight by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/>
                  <a:t>S</a:t>
                </a:r>
                <a:r>
                  <a:rPr lang="en-US" dirty="0" smtClean="0"/>
                  <a:t>till choose outcome given by the majority weight of experts in each day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Theorem: </a:t>
                </a:r>
                <a:r>
                  <a:rPr lang="en-US" dirty="0"/>
                  <a:t>If the best expert makes M mistakes, then the weighted majority algorithm makes at most </a:t>
                </a:r>
                <a14:m>
                  <m:oMath xmlns:m="http://schemas.openxmlformats.org/officeDocument/2006/math">
                    <m:r>
                      <a:rPr lang="en-US" i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</m:d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smtClean="0"/>
                  <a:t>mistakes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2940" y="2021567"/>
                <a:ext cx="10866120" cy="4351338"/>
              </a:xfrm>
              <a:blipFill>
                <a:blip r:embed="rId2"/>
                <a:stretch>
                  <a:fillRect l="-1010" t="-2384" r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37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52251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Improved Weighted Majority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07571" y="1520870"/>
                <a:ext cx="11009811" cy="516731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100" dirty="0" smtClean="0"/>
                  <a:t>Each time we make a mistake,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lang="en-US" sz="2100" i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(1−</m:t>
                    </m:r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num>
                      <m:den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</m:oMath>
                </a14:m>
                <a:endParaRPr lang="en-US" sz="2100" dirty="0"/>
              </a:p>
              <a:p>
                <a:pPr lvl="1"/>
                <a:r>
                  <a:rPr lang="en-US" sz="2100" dirty="0"/>
                  <a:t>A</a:t>
                </a:r>
                <a:r>
                  <a:rPr lang="en-US" sz="2100" dirty="0" smtClean="0"/>
                  <a:t>t </a:t>
                </a:r>
                <a:r>
                  <a:rPr lang="en-US" sz="2100" dirty="0"/>
                  <a:t>least half of the weight </a:t>
                </a:r>
                <a:r>
                  <a:rPr lang="en-US" sz="2100" dirty="0" smtClean="0"/>
                  <a:t>gets scaled by </a:t>
                </a:r>
                <a14:m>
                  <m:oMath xmlns:m="http://schemas.openxmlformats.org/officeDocument/2006/math"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sz="2100" dirty="0" smtClean="0"/>
                  <a:t> </a:t>
                </a:r>
              </a:p>
              <a:p>
                <a:endParaRPr lang="en-US" sz="2100" dirty="0"/>
              </a:p>
              <a:p>
                <a:r>
                  <a:rPr lang="en-US" sz="2100" dirty="0" smtClean="0"/>
                  <a:t>If we’ve made m mistakes,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final</m:t>
                        </m:r>
                      </m:sub>
                    </m:sSub>
                    <m:r>
                      <a:rPr lang="en-US" sz="2100" i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num>
                              <m:den>
                                <m: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a:rPr lang="en-US" sz="2100" i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init</m:t>
                        </m:r>
                      </m:sub>
                    </m:sSub>
                    <m:r>
                      <a:rPr lang="en-US" sz="21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num>
                              <m:den>
                                <m: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m:rPr>
                        <m:sty m:val="p"/>
                      </m:rPr>
                      <a:rPr lang="en-US" sz="2100" i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sz="2100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final</m:t>
                        </m:r>
                      </m:sub>
                    </m:sSub>
                    <m:r>
                      <a:rPr lang="en-US" sz="210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sSup>
                          <m:sSup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10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p>
                            <m:r>
                              <a:rPr lang="en-US" sz="210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>
                      <a:rPr lang="en-US" sz="210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</m:oMath>
                </a14:m>
                <a:endParaRPr lang="en-US" sz="2100" dirty="0" smtClean="0"/>
              </a:p>
              <a:p>
                <a:endParaRPr lang="en-US" sz="21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sz="2100" i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final</m:t>
                        </m:r>
                      </m:sub>
                    </m:sSub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1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2100" i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num>
                              <m:den>
                                <m:r>
                                  <a:rPr lang="en-US" sz="2100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sz="2100" i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  <m:r>
                      <m:rPr>
                        <m:sty m:val="p"/>
                      </m:rPr>
                      <a:rPr lang="en-US" sz="2100" i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sz="2100" dirty="0" smtClean="0"/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ϵ</m:t>
                                    </m:r>
                                  </m:num>
                                  <m:den>
                                    <m:r>
                                      <a:rPr lang="en-US" sz="21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p>
                        </m:sSup>
                      </m:den>
                    </m:f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sSup>
                          <m:sSup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p>
                        </m:sSup>
                      </m:den>
                    </m:f>
                  </m:oMath>
                </a14:m>
                <a:endParaRPr lang="en-US" sz="2100" dirty="0" smtClean="0"/>
              </a:p>
              <a:p>
                <a:endParaRPr lang="en-US" sz="2100" dirty="0"/>
              </a:p>
              <a:p>
                <a:r>
                  <a:rPr lang="en-US" sz="2100" dirty="0" smtClean="0"/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m</m:t>
                    </m:r>
                    <m:func>
                      <m:func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num>
                              <m:den>
                                <m: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func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M</m:t>
                    </m:r>
                    <m:func>
                      <m:func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den>
                        </m:f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sz="2100" dirty="0" smtClean="0"/>
                  <a:t>  </a:t>
                </a:r>
              </a:p>
              <a:p>
                <a:pPr lvl="1"/>
                <a:r>
                  <a:rPr lang="en-US" sz="2100" dirty="0" smtClean="0"/>
                  <a:t> Use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2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num>
                              <m:den>
                                <m:r>
                                  <a:rPr lang="en-US" sz="2100" b="0" i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func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num>
                      <m:den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100" dirty="0" smtClean="0"/>
                  <a:t>   and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1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100" i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den>
                        </m:f>
                      </m:e>
                    </m:func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ϵ</m:t>
                    </m:r>
                    <m:r>
                      <a:rPr lang="en-US" sz="2100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p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100" dirty="0" smtClean="0"/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ϵ</m:t>
                    </m:r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∈[0,</m:t>
                    </m:r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100" dirty="0" smtClean="0"/>
                  <a:t>, and multiply both sides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den>
                    </m:f>
                  </m:oMath>
                </a14:m>
                <a:endParaRPr lang="en-US" sz="21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 ≤2</m:t>
                    </m:r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</m:d>
                    <m:r>
                      <a:rPr lang="en-US" sz="2100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1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func>
                          <m:func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en-US" sz="2100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den>
                    </m:f>
                  </m:oMath>
                </a14:m>
                <a:r>
                  <a:rPr lang="en-US" sz="2100" dirty="0" smtClean="0"/>
                  <a:t>  </a:t>
                </a:r>
                <a:endParaRPr lang="en-US" sz="21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7571" y="1520870"/>
                <a:ext cx="11009811" cy="5167311"/>
              </a:xfrm>
              <a:blipFill>
                <a:blip r:embed="rId2"/>
                <a:stretch>
                  <a:fillRect l="-554" t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61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2554" y="195308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Lower Bound for Deterministic Algorithms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39634" y="1520871"/>
                <a:ext cx="11521440" cy="5032375"/>
              </a:xfrm>
            </p:spPr>
            <p:txBody>
              <a:bodyPr>
                <a:noAutofit/>
              </a:bodyPr>
              <a:lstStyle/>
              <a:p>
                <a:r>
                  <a:rPr lang="en-US" sz="2200" dirty="0">
                    <a:solidFill>
                      <a:srgbClr val="FF0000"/>
                    </a:solidFill>
                  </a:rPr>
                  <a:t>Theorem: </a:t>
                </a:r>
                <a:r>
                  <a:rPr lang="en-US" sz="2200" dirty="0"/>
                  <a:t>If the best expert makes M mistakes, then the weighted majority algorithm makes at most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</m:d>
                    <m:r>
                      <m:rPr>
                        <m:sty m:val="p"/>
                      </m:rPr>
                      <a:rPr lang="en-US" sz="220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20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2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200">
                            <a:latin typeface="Cambria Math" panose="02040503050406030204" pitchFamily="18" charset="0"/>
                          </a:rPr>
                          <m:t>ϵ</m:t>
                        </m:r>
                      </m:den>
                    </m:f>
                    <m:r>
                      <a:rPr lang="en-US" sz="22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 mistakes!</a:t>
                </a:r>
              </a:p>
              <a:p>
                <a:endParaRPr lang="en-US" sz="2200" dirty="0" smtClean="0"/>
              </a:p>
              <a:p>
                <a:r>
                  <a:rPr lang="en-US" sz="2200" dirty="0" smtClean="0"/>
                  <a:t>If best expert is wrong 10% of the time, we’re wrong 20% of the time</a:t>
                </a:r>
              </a:p>
              <a:p>
                <a:endParaRPr lang="en-US" sz="2200" dirty="0"/>
              </a:p>
              <a:p>
                <a:r>
                  <a:rPr lang="en-US" sz="2200" dirty="0" smtClean="0"/>
                  <a:t>2M mistakes are necessary for any deterministic algorithm:</a:t>
                </a:r>
              </a:p>
              <a:p>
                <a:endParaRPr lang="en-US" sz="2200" dirty="0"/>
              </a:p>
              <a:p>
                <a:pPr lvl="1"/>
                <a:r>
                  <a:rPr lang="en-US" sz="2200" dirty="0" smtClean="0"/>
                  <a:t>Suppose we have two experts - one always says 0 and one always says 1</a:t>
                </a:r>
              </a:p>
              <a:p>
                <a:endParaRPr lang="en-US" sz="2200" dirty="0"/>
              </a:p>
              <a:p>
                <a:pPr lvl="1"/>
                <a:r>
                  <a:rPr lang="en-US" sz="2200" dirty="0" smtClean="0"/>
                  <a:t>If algorithm is deterministic, the adversary knows what prediction the algorithm will make on each day, so it can choose the opposite outcome</a:t>
                </a:r>
              </a:p>
              <a:p>
                <a:endParaRPr lang="en-US" sz="2200" dirty="0" smtClean="0"/>
              </a:p>
              <a:p>
                <a:pPr lvl="1"/>
                <a:r>
                  <a:rPr lang="en-US" sz="2200" dirty="0" smtClean="0"/>
                  <a:t>So algorithm incorrect on all days, but one expert is correct on at least half of the days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634" y="1520871"/>
                <a:ext cx="11521440" cy="5032375"/>
              </a:xfrm>
              <a:blipFill>
                <a:blip r:embed="rId2"/>
                <a:stretch>
                  <a:fillRect l="-635" t="-1453" r="-159" b="-6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987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Randomized Weighted Majority Algorithm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5780" y="1825625"/>
                <a:ext cx="1114044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Assign </a:t>
                </a:r>
                <a:r>
                  <a:rPr lang="en-US" dirty="0"/>
                  <a:t>weight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:r>
                  <a:rPr lang="en-US" dirty="0" err="1"/>
                  <a:t>i-th</a:t>
                </a:r>
                <a:r>
                  <a:rPr lang="en-US" dirty="0"/>
                  <a:t> expert. Initialize all weights to </a:t>
                </a:r>
                <a:r>
                  <a:rPr lang="en-US" dirty="0" smtClean="0"/>
                  <a:t>1</a:t>
                </a:r>
              </a:p>
              <a:p>
                <a:endParaRPr lang="en-US" dirty="0"/>
              </a:p>
              <a:p>
                <a:r>
                  <a:rPr lang="en-US" dirty="0" smtClean="0"/>
                  <a:t>On each day, predict 1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says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1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dirty="0" smtClean="0"/>
                  <a:t>, and predict 0 otherwise</a:t>
                </a:r>
              </a:p>
              <a:p>
                <a:endParaRPr lang="en-US" dirty="0" smtClean="0"/>
              </a:p>
              <a:p>
                <a:r>
                  <a:rPr lang="en-US" dirty="0"/>
                  <a:t>Equivalently, pick a random expert </a:t>
                </a:r>
                <a:r>
                  <a:rPr lang="en-US" dirty="0" err="1"/>
                  <a:t>i</a:t>
                </a:r>
                <a:r>
                  <a:rPr lang="en-US" dirty="0"/>
                  <a:t> with probability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US" dirty="0"/>
                  <a:t> and choose that expert’s outcome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 smtClean="0"/>
                  <a:t>When an expert makes a mistake, multiply its weight by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5780" y="1825625"/>
                <a:ext cx="11140440" cy="4351338"/>
              </a:xfrm>
              <a:blipFill>
                <a:blip r:embed="rId2"/>
                <a:stretch>
                  <a:fillRect l="-985" t="-3081" r="-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198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Randomized Weighted Majority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3"/>
                <a:ext cx="10818091" cy="485226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>
                    <a:solidFill>
                      <a:srgbClr val="FF0000"/>
                    </a:solidFill>
                  </a:rPr>
                  <a:t>Theorem: </a:t>
                </a:r>
                <a:r>
                  <a:rPr lang="en-US" dirty="0"/>
                  <a:t>If the best expert makes M mistakes, then the </a:t>
                </a:r>
                <a:r>
                  <a:rPr lang="en-US" dirty="0" smtClean="0"/>
                  <a:t>expected number of mistakes of the randomized weighted </a:t>
                </a:r>
                <a:r>
                  <a:rPr lang="en-US" dirty="0"/>
                  <a:t>majority algorithm makes at most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den>
                    </m:f>
                  </m:oMath>
                </a14:m>
                <a:r>
                  <a:rPr lang="en-US" dirty="0" smtClean="0"/>
                  <a:t> 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Previous 2M lower bound only applies to deterministic algorithms</a:t>
                </a:r>
              </a:p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. Initially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Having fixed the outcome on all days, the potential varies deterministically 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3"/>
                <a:ext cx="10818091" cy="4852267"/>
              </a:xfrm>
              <a:blipFill>
                <a:blip r:embed="rId2"/>
                <a:stretch>
                  <a:fillRect l="-958" t="-27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769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Randomized Weighted Majority Algorithm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114314" cy="490174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dirty="0" smtClean="0"/>
                  <a:t> be the fraction of total weight on the t-</a:t>
                </a:r>
                <a:r>
                  <a:rPr lang="en-US" dirty="0" err="1" smtClean="0"/>
                  <a:t>th</a:t>
                </a:r>
                <a:r>
                  <a:rPr lang="en-US" dirty="0" smtClean="0"/>
                  <a:t> day on experts that make a mistake on that day</a:t>
                </a:r>
              </a:p>
              <a:p>
                <a:endParaRPr lang="en-US" dirty="0"/>
              </a:p>
              <a:p>
                <a:r>
                  <a:rPr lang="en-US" dirty="0" smtClean="0"/>
                  <a:t>The expected number of mistakes we make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nary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On day 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old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old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old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ϵ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final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∏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ϵ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nary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/>
                  <a:t>using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  <a:r>
                  <a:rPr lang="en-US" dirty="0" smtClean="0"/>
                  <a:t> for all x</a:t>
                </a:r>
              </a:p>
              <a:p>
                <a:endParaRPr lang="en-US" dirty="0"/>
              </a:p>
              <a:p>
                <a:r>
                  <a:rPr lang="en-US" dirty="0" smtClean="0"/>
                  <a:t>Also,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final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114314" cy="4901746"/>
              </a:xfrm>
              <a:blipFill>
                <a:blip r:embed="rId2"/>
                <a:stretch>
                  <a:fillRect l="-987" t="-2733" r="-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785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Randomized Weighted Majority Algorithm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143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</a:t>
                </a:r>
                <a:r>
                  <a:rPr lang="en-US" dirty="0" smtClean="0"/>
                  <a:t>ave shown: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M</m:t>
                            </m:r>
                          </m:sup>
                        </m:s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final</m:t>
                        </m:r>
                        <m:r>
                          <a:rPr lang="en-US" i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ϵ</m:t>
                        </m:r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F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i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nary>
                      </m:sup>
                    </m:sSup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Taking natural logs,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ϵ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≤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ϵ</m:t>
                                </m:r>
                              </m:den>
                            </m:f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+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e>
                    </m:nary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Using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ϵ</m:t>
                            </m:r>
                          </m:den>
                        </m:f>
                      </m:e>
                    </m:func>
                    <m:r>
                      <a:rPr lang="en-US" i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ϵ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p>
                        <m:r>
                          <a:rPr lang="en-US" i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>
                        <a:latin typeface="Cambria Math" panose="02040503050406030204" pitchFamily="18" charset="0"/>
                      </a:rPr>
                      <m:t>ϵ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∈[0,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 smtClean="0"/>
                  <a:t>, and dividing both sides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en-US" dirty="0" smtClean="0"/>
                  <a:t> we get: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	Expected number of mistakes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nary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ϵ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1434" cy="4351338"/>
              </a:xfrm>
              <a:blipFill>
                <a:blip r:embed="rId2"/>
                <a:stretch>
                  <a:fillRect l="-1004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78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/>
                </a:solidFill>
              </a:rPr>
              <a:t>Understanding the Error Rate</a:t>
            </a:r>
            <a:endParaRPr lang="en-US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53057" cy="520219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 smtClean="0"/>
                  <a:t>Expected number of mistakes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nary>
                    <m:r>
                      <a:rPr lang="en-US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M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ϵ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Best expert makes at most T mistakes,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F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ϵ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ϵ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Let M/T be optimal “error rate”</a:t>
                </a:r>
              </a:p>
              <a:p>
                <a:endParaRPr lang="en-US" dirty="0"/>
              </a:p>
              <a:p>
                <a:r>
                  <a:rPr lang="en-US" dirty="0"/>
                  <a:t>O</a:t>
                </a:r>
                <a:r>
                  <a:rPr lang="en-US" dirty="0" smtClean="0"/>
                  <a:t>ur expected error rate is at most optimal error rate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ϵ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</m:func>
                      </m:num>
                      <m:den>
                        <m:r>
                          <m:rPr>
                            <m:sty m:val="p"/>
                          </m:rPr>
                          <a:rPr lang="en-US" i="0">
                            <a:latin typeface="Cambria Math" panose="02040503050406030204" pitchFamily="18" charset="0"/>
                          </a:rPr>
                          <m:t>ϵ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Setting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ϵ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 smtClean="0"/>
                  <a:t> our error rate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 smtClean="0"/>
                  <a:t> optimal rate +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</m:fName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e>
                                </m:func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1/2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endParaRPr lang="en-US" dirty="0"/>
              </a:p>
              <a:p>
                <a:r>
                  <a:rPr lang="en-US" dirty="0" smtClean="0"/>
                  <a:t>The last term is called the “regret”. As T gets larger, the regret goes to 0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53057" cy="5202192"/>
              </a:xfrm>
              <a:blipFill>
                <a:blip r:embed="rId2"/>
                <a:stretch>
                  <a:fillRect l="-730" t="-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350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2508</TotalTime>
  <Words>2339</Words>
  <Application>Microsoft Office PowerPoint</Application>
  <PresentationFormat>Widescreen</PresentationFormat>
  <Paragraphs>184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The Multiplicative Weights Algorithm</vt:lpstr>
      <vt:lpstr>The Experts Problem</vt:lpstr>
      <vt:lpstr>The Experts Problem</vt:lpstr>
      <vt:lpstr>The Experts Problem</vt:lpstr>
      <vt:lpstr>Simpler Question</vt:lpstr>
      <vt:lpstr>Can You Do Better?</vt:lpstr>
      <vt:lpstr>No Perfect Expert</vt:lpstr>
      <vt:lpstr>Doing Better</vt:lpstr>
      <vt:lpstr>Weighted Majority Algorithm</vt:lpstr>
      <vt:lpstr>Weighted Majority Algorithm</vt:lpstr>
      <vt:lpstr>Weighted Majority Algorithm</vt:lpstr>
      <vt:lpstr>Improved Weighted Majority Algorithm</vt:lpstr>
      <vt:lpstr>Improved Weighted Majority Algorithm</vt:lpstr>
      <vt:lpstr>Lower Bound for Deterministic Algorithms</vt:lpstr>
      <vt:lpstr>Randomized Weighted Majority Algorithm</vt:lpstr>
      <vt:lpstr>Randomized Weighted Majority Algorithm</vt:lpstr>
      <vt:lpstr>Randomized Weighted Majority Algorithm</vt:lpstr>
      <vt:lpstr>Randomized Weighted Majority Algorithm</vt:lpstr>
      <vt:lpstr>Understanding the Error Rate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Concrete Models and Tight Upper and Lower Bounds</dc:title>
  <dc:creator>David Woodruff temp</dc:creator>
  <cp:lastModifiedBy>David Woodruff temp</cp:lastModifiedBy>
  <cp:revision>217</cp:revision>
  <cp:lastPrinted>2020-04-30T02:29:34Z</cp:lastPrinted>
  <dcterms:created xsi:type="dcterms:W3CDTF">2018-01-05T01:17:19Z</dcterms:created>
  <dcterms:modified xsi:type="dcterms:W3CDTF">2021-04-13T16:17:38Z</dcterms:modified>
</cp:coreProperties>
</file>